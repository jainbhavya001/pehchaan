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ptos Bold" panose="020B0604020202020204" charset="0"/>
      <p:regular r:id="rId10"/>
    </p:embeddedFont>
    <p:embeddedFont>
      <p:font typeface="Arial Bold" panose="020B0704020202020204" pitchFamily="34" charset="0"/>
      <p:regular r:id="rId11"/>
      <p:bold r:id="rId12"/>
    </p:embeddedFon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DM Sans Bold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Samsung Sans" panose="020B0503020203020204" pitchFamily="34" charset="0"/>
      <p:regular r:id="rId20"/>
      <p:bold r:id="rId21"/>
    </p:embeddedFont>
    <p:embeddedFont>
      <p:font typeface="Sitka Banner Semibold" pitchFamily="2" charset="0"/>
      <p:bold r:id="rId22"/>
      <p:boldItalic r:id="rId23"/>
    </p:embeddedFont>
    <p:embeddedFont>
      <p:font typeface="Times New Roman Bold" panose="02020803070505020304" pitchFamily="18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93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59085" y="1503725"/>
            <a:ext cx="5628915" cy="6255518"/>
          </a:xfrm>
          <a:custGeom>
            <a:avLst/>
            <a:gdLst/>
            <a:ahLst/>
            <a:cxnLst/>
            <a:rect l="l" t="t" r="r" b="b"/>
            <a:pathLst>
              <a:path w="5628915" h="6255518">
                <a:moveTo>
                  <a:pt x="0" y="0"/>
                </a:moveTo>
                <a:lnTo>
                  <a:pt x="5628915" y="0"/>
                </a:lnTo>
                <a:lnTo>
                  <a:pt x="5628915" y="6255518"/>
                </a:lnTo>
                <a:lnTo>
                  <a:pt x="0" y="62555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979848" y="2750930"/>
            <a:ext cx="4433480" cy="4741720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51788" y="-347683"/>
            <a:ext cx="15544800" cy="2008540"/>
            <a:chOff x="0" y="0"/>
            <a:chExt cx="20726400" cy="26780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2678054"/>
            </a:xfrm>
            <a:custGeom>
              <a:avLst/>
              <a:gdLst/>
              <a:ahLst/>
              <a:cxnLst/>
              <a:rect l="l" t="t" r="r" b="b"/>
              <a:pathLst>
                <a:path w="20726400" h="2678054">
                  <a:moveTo>
                    <a:pt x="0" y="0"/>
                  </a:moveTo>
                  <a:lnTo>
                    <a:pt x="20726400" y="0"/>
                  </a:lnTo>
                  <a:lnTo>
                    <a:pt x="20726400" y="2678054"/>
                  </a:lnTo>
                  <a:lnTo>
                    <a:pt x="0" y="2678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265" b="-12833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26971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13327" y="2513504"/>
            <a:ext cx="13123466" cy="742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6849" lvl="1" indent="-513425" algn="l">
              <a:lnSpc>
                <a:spcPts val="7276"/>
              </a:lnSpc>
              <a:buFont typeface="Arial"/>
              <a:buChar char="•"/>
            </a:pPr>
            <a:r>
              <a:rPr lang="en-US" sz="3600" b="1" dirty="0">
                <a:solidFill>
                  <a:srgbClr val="FC9223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Problem Statement ID</a:t>
            </a:r>
            <a:r>
              <a:rPr lang="en-US" sz="3600" b="1" dirty="0">
                <a:solidFill>
                  <a:srgbClr val="000000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- 26188</a:t>
            </a:r>
          </a:p>
          <a:p>
            <a:pPr marL="1026849" lvl="1" indent="-513425" algn="l">
              <a:lnSpc>
                <a:spcPts val="7276"/>
              </a:lnSpc>
              <a:buFont typeface="Arial"/>
              <a:buChar char="•"/>
            </a:pPr>
            <a:r>
              <a:rPr lang="en-US" sz="3600" b="1" dirty="0">
                <a:solidFill>
                  <a:srgbClr val="EB801E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Problem-Statement Title</a:t>
            </a:r>
            <a:r>
              <a:rPr lang="en-US" sz="3600" b="1" dirty="0">
                <a:solidFill>
                  <a:srgbClr val="000000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- Al-Based Fake Identity &amp; Document Screening System</a:t>
            </a:r>
          </a:p>
          <a:p>
            <a:pPr marL="1026849" lvl="1" indent="-513425" algn="l">
              <a:lnSpc>
                <a:spcPts val="7276"/>
              </a:lnSpc>
              <a:buFont typeface="Arial"/>
              <a:buChar char="•"/>
            </a:pPr>
            <a:r>
              <a:rPr lang="en-US" sz="3600" b="1" dirty="0">
                <a:solidFill>
                  <a:srgbClr val="EB801E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Theme</a:t>
            </a:r>
            <a:r>
              <a:rPr lang="en-US" sz="3600" b="1" dirty="0">
                <a:solidFill>
                  <a:srgbClr val="000000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- Blockchain &amp; Cybersecurity</a:t>
            </a:r>
          </a:p>
          <a:p>
            <a:pPr marL="1026849" lvl="1" indent="-513425" algn="l">
              <a:lnSpc>
                <a:spcPts val="7276"/>
              </a:lnSpc>
              <a:buFont typeface="Arial"/>
              <a:buChar char="•"/>
            </a:pPr>
            <a:r>
              <a:rPr lang="en-US" sz="3600" b="1" dirty="0">
                <a:solidFill>
                  <a:srgbClr val="EB801E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PS Category</a:t>
            </a:r>
            <a:r>
              <a:rPr lang="en-US" sz="3600" b="1" dirty="0">
                <a:solidFill>
                  <a:srgbClr val="000000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- Software</a:t>
            </a:r>
          </a:p>
          <a:p>
            <a:pPr marL="1026849" lvl="1" indent="-513425" algn="l">
              <a:lnSpc>
                <a:spcPts val="7276"/>
              </a:lnSpc>
              <a:buFont typeface="Arial"/>
              <a:buChar char="•"/>
            </a:pPr>
            <a:r>
              <a:rPr lang="en-US" sz="3600" b="1" dirty="0">
                <a:solidFill>
                  <a:srgbClr val="EB801E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Team ID</a:t>
            </a:r>
            <a:r>
              <a:rPr lang="en-US" sz="3600" b="1" dirty="0">
                <a:solidFill>
                  <a:srgbClr val="000000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- </a:t>
            </a:r>
          </a:p>
          <a:p>
            <a:pPr marL="1026849" lvl="1" indent="-513425" algn="l">
              <a:lnSpc>
                <a:spcPts val="7276"/>
              </a:lnSpc>
              <a:buFont typeface="Arial"/>
              <a:buChar char="•"/>
            </a:pPr>
            <a:r>
              <a:rPr lang="en-US" sz="3600" b="1" dirty="0">
                <a:solidFill>
                  <a:srgbClr val="EB801E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Team Name</a:t>
            </a:r>
            <a:r>
              <a:rPr lang="en-US" sz="3600" b="1" dirty="0">
                <a:solidFill>
                  <a:srgbClr val="000000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- </a:t>
            </a:r>
            <a:r>
              <a:rPr lang="en-US" sz="3600" b="1" dirty="0" err="1">
                <a:solidFill>
                  <a:srgbClr val="000000"/>
                </a:solidFill>
                <a:latin typeface="Samsung Sans" panose="020B0503020203020204" pitchFamily="34" charset="0"/>
                <a:ea typeface="Samsung Sans" panose="020B0503020203020204" pitchFamily="34" charset="0"/>
                <a:cs typeface="DM Sans Bold"/>
                <a:sym typeface="DM Sans Bold"/>
              </a:rPr>
              <a:t>Pehchaan</a:t>
            </a:r>
            <a:endParaRPr lang="en-US" sz="3600" b="1" dirty="0">
              <a:solidFill>
                <a:srgbClr val="000000"/>
              </a:solidFill>
              <a:latin typeface="Samsung Sans" panose="020B0503020203020204" pitchFamily="34" charset="0"/>
              <a:ea typeface="Samsung Sans" panose="020B0503020203020204" pitchFamily="34" charset="0"/>
              <a:cs typeface="DM Sans Bold"/>
              <a:sym typeface="DM Sans Bold"/>
            </a:endParaRPr>
          </a:p>
          <a:p>
            <a:pPr algn="l">
              <a:lnSpc>
                <a:spcPts val="7276"/>
              </a:lnSpc>
            </a:pPr>
            <a:endParaRPr lang="en-US" sz="4756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447800" y="34273"/>
            <a:ext cx="14580716" cy="1637410"/>
            <a:chOff x="0" y="0"/>
            <a:chExt cx="20329557" cy="22830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329558" cy="2283003"/>
            </a:xfrm>
            <a:custGeom>
              <a:avLst/>
              <a:gdLst/>
              <a:ahLst/>
              <a:cxnLst/>
              <a:rect l="l" t="t" r="r" b="b"/>
              <a:pathLst>
                <a:path w="20329558" h="2283003">
                  <a:moveTo>
                    <a:pt x="0" y="0"/>
                  </a:moveTo>
                  <a:lnTo>
                    <a:pt x="20329558" y="0"/>
                  </a:lnTo>
                  <a:lnTo>
                    <a:pt x="20329558" y="2283003"/>
                  </a:lnTo>
                  <a:lnTo>
                    <a:pt x="0" y="2283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236" r="-7949" b="-13736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0329557" cy="23115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 dirty="0">
                  <a:solidFill>
                    <a:srgbClr val="000000"/>
                  </a:solidFill>
                  <a:latin typeface="Sitka Banner Semibold" pitchFamily="2" charset="0"/>
                  <a:ea typeface="Times New Roman Bold"/>
                  <a:cs typeface="Times New Roman Bold"/>
                  <a:sym typeface="Times New Roman Bold"/>
                </a:rPr>
                <a:t>AI-POWERED PASSPORT AUTHENTICITY ENGINE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0F0090E-713A-31D1-F83D-F0646683CB69}"/>
              </a:ext>
            </a:extLst>
          </p:cNvPr>
          <p:cNvGrpSpPr/>
          <p:nvPr/>
        </p:nvGrpSpPr>
        <p:grpSpPr>
          <a:xfrm>
            <a:off x="230013" y="76167"/>
            <a:ext cx="1915858" cy="1249109"/>
            <a:chOff x="230013" y="76167"/>
            <a:chExt cx="1915858" cy="1249109"/>
          </a:xfrm>
        </p:grpSpPr>
        <p:sp>
          <p:nvSpPr>
            <p:cNvPr id="62" name="Freeform 15" descr="Your startup LOGO">
              <a:extLst>
                <a:ext uri="{FF2B5EF4-FFF2-40B4-BE49-F238E27FC236}">
                  <a16:creationId xmlns:a16="http://schemas.microsoft.com/office/drawing/2014/main" id="{11A7A902-43AC-8519-55F5-C28EF9C498A7}"/>
                </a:ext>
              </a:extLst>
            </p:cNvPr>
            <p:cNvSpPr/>
            <p:nvPr/>
          </p:nvSpPr>
          <p:spPr>
            <a:xfrm>
              <a:off x="230013" y="76167"/>
              <a:ext cx="1915858" cy="1249109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17847" y="477183"/>
              <a:ext cx="1740190" cy="6631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18"/>
                </a:lnSpc>
                <a:spcBef>
                  <a:spcPct val="0"/>
                </a:spcBef>
              </a:pPr>
              <a:r>
                <a:rPr lang="en-US" sz="2848" b="1" dirty="0" err="1">
                  <a:solidFill>
                    <a:srgbClr val="000000"/>
                  </a:solidFill>
                  <a:latin typeface="Sitka Banner Semibold" pitchFamily="2" charset="0"/>
                  <a:ea typeface="Times New Roman Bold"/>
                  <a:cs typeface="Times New Roman Bold"/>
                  <a:sym typeface="Times New Roman Bold"/>
                </a:rPr>
                <a:t>Pehchaan</a:t>
              </a:r>
              <a:r>
                <a:rPr lang="en-US" sz="2848" b="1" dirty="0">
                  <a:solidFill>
                    <a:srgbClr val="000000"/>
                  </a:solidFill>
                  <a:latin typeface="Sitka Banner Semibold" pitchFamily="2" charset="0"/>
                  <a:ea typeface="Times New Roman Bold"/>
                  <a:cs typeface="Times New Roman Bold"/>
                  <a:sym typeface="Times New Roman Bold"/>
                </a:rPr>
                <a:t>!</a:t>
              </a:r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A7BA267D-199C-7D8D-9704-AE1EB0F6C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614" y="2047929"/>
            <a:ext cx="6507167" cy="65071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6416CB4-A83D-C829-A40F-18795DD76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637" y="2045584"/>
            <a:ext cx="6598096" cy="65980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BA254351-8B22-F55B-A7FC-758B40C5F30D}"/>
              </a:ext>
            </a:extLst>
          </p:cNvPr>
          <p:cNvSpPr/>
          <p:nvPr/>
        </p:nvSpPr>
        <p:spPr>
          <a:xfrm flipH="1">
            <a:off x="4300766" y="1342488"/>
            <a:ext cx="4035385" cy="722439"/>
          </a:xfrm>
          <a:prstGeom prst="rect">
            <a:avLst/>
          </a:prstGeom>
          <a:solidFill>
            <a:srgbClr val="FBE5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dirty="0">
                <a:solidFill>
                  <a:schemeClr val="tx1"/>
                </a:solidFill>
              </a:rPr>
              <a:t>ये है आम ज़िंदगी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C5AA06C-C700-EBF3-1024-77B4EAC23D4C}"/>
              </a:ext>
            </a:extLst>
          </p:cNvPr>
          <p:cNvSpPr/>
          <p:nvPr/>
        </p:nvSpPr>
        <p:spPr>
          <a:xfrm flipH="1">
            <a:off x="8647637" y="1342488"/>
            <a:ext cx="4035385" cy="722439"/>
          </a:xfrm>
          <a:prstGeom prst="rect">
            <a:avLst/>
          </a:prstGeom>
          <a:solidFill>
            <a:srgbClr val="FBE5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dirty="0">
                <a:solidFill>
                  <a:schemeClr val="tx1"/>
                </a:solidFill>
              </a:rPr>
              <a:t>और ये है </a:t>
            </a:r>
            <a:r>
              <a:rPr lang="hi-IN" dirty="0" err="1">
                <a:solidFill>
                  <a:schemeClr val="tx1"/>
                </a:solidFill>
              </a:rPr>
              <a:t>mentos</a:t>
            </a:r>
            <a:r>
              <a:rPr lang="hi-IN" dirty="0">
                <a:solidFill>
                  <a:schemeClr val="tx1"/>
                </a:solidFill>
              </a:rPr>
              <a:t> ज़िंदगी  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50370B-B01B-96E0-7F54-5D6E3DEE1A1C}"/>
              </a:ext>
            </a:extLst>
          </p:cNvPr>
          <p:cNvGrpSpPr/>
          <p:nvPr/>
        </p:nvGrpSpPr>
        <p:grpSpPr>
          <a:xfrm>
            <a:off x="47911" y="38100"/>
            <a:ext cx="1915858" cy="1249109"/>
            <a:chOff x="230013" y="76167"/>
            <a:chExt cx="1915858" cy="1249109"/>
          </a:xfrm>
        </p:grpSpPr>
        <p:sp>
          <p:nvSpPr>
            <p:cNvPr id="20" name="Freeform 15" descr="Your startup LOGO">
              <a:extLst>
                <a:ext uri="{FF2B5EF4-FFF2-40B4-BE49-F238E27FC236}">
                  <a16:creationId xmlns:a16="http://schemas.microsoft.com/office/drawing/2014/main" id="{108A239A-6E0D-5AAF-FE55-31640D74ACDA}"/>
                </a:ext>
              </a:extLst>
            </p:cNvPr>
            <p:cNvSpPr/>
            <p:nvPr/>
          </p:nvSpPr>
          <p:spPr>
            <a:xfrm>
              <a:off x="230013" y="76167"/>
              <a:ext cx="1915858" cy="1249109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1" name="TextBox 50">
              <a:extLst>
                <a:ext uri="{FF2B5EF4-FFF2-40B4-BE49-F238E27FC236}">
                  <a16:creationId xmlns:a16="http://schemas.microsoft.com/office/drawing/2014/main" id="{644D3EE2-1AA6-720A-463A-F4AC9DAD6E84}"/>
                </a:ext>
              </a:extLst>
            </p:cNvPr>
            <p:cNvSpPr txBox="1"/>
            <p:nvPr/>
          </p:nvSpPr>
          <p:spPr>
            <a:xfrm>
              <a:off x="317847" y="477183"/>
              <a:ext cx="1740190" cy="6631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18"/>
                </a:lnSpc>
                <a:spcBef>
                  <a:spcPct val="0"/>
                </a:spcBef>
              </a:pPr>
              <a:r>
                <a:rPr lang="en-US" sz="2848" b="1" dirty="0" err="1">
                  <a:solidFill>
                    <a:srgbClr val="000000"/>
                  </a:solidFill>
                  <a:latin typeface="Sitka Banner Semibold" pitchFamily="2" charset="0"/>
                  <a:ea typeface="Times New Roman Bold"/>
                  <a:cs typeface="Times New Roman Bold"/>
                  <a:sym typeface="Times New Roman Bold"/>
                </a:rPr>
                <a:t>Pehchaan</a:t>
              </a:r>
              <a:r>
                <a:rPr lang="en-US" sz="2848" b="1" dirty="0">
                  <a:solidFill>
                    <a:srgbClr val="000000"/>
                  </a:solidFill>
                  <a:latin typeface="Sitka Banner Semibold" pitchFamily="2" charset="0"/>
                  <a:ea typeface="Times New Roman Bold"/>
                  <a:cs typeface="Times New Roman Bold"/>
                  <a:sym typeface="Times New Roman Bold"/>
                </a:rPr>
                <a:t>!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756" y="0"/>
            <a:ext cx="1915887" cy="1514233"/>
            <a:chOff x="0" y="0"/>
            <a:chExt cx="2554516" cy="201897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2018990"/>
            </a:xfrm>
            <a:custGeom>
              <a:avLst/>
              <a:gdLst/>
              <a:ahLst/>
              <a:cxnLst/>
              <a:rect l="l" t="t" r="r" b="b"/>
              <a:pathLst>
                <a:path w="2554478" h="2018990">
                  <a:moveTo>
                    <a:pt x="0" y="1009496"/>
                  </a:moveTo>
                  <a:cubicBezTo>
                    <a:pt x="0" y="452018"/>
                    <a:pt x="571881" y="0"/>
                    <a:pt x="1277239" y="0"/>
                  </a:cubicBezTo>
                  <a:cubicBezTo>
                    <a:pt x="1982597" y="0"/>
                    <a:pt x="2554478" y="452018"/>
                    <a:pt x="2554478" y="1009496"/>
                  </a:cubicBezTo>
                  <a:cubicBezTo>
                    <a:pt x="2554478" y="1566975"/>
                    <a:pt x="1982597" y="2018990"/>
                    <a:pt x="1277239" y="2018990"/>
                  </a:cubicBezTo>
                  <a:cubicBezTo>
                    <a:pt x="571881" y="2018990"/>
                    <a:pt x="0" y="1566975"/>
                    <a:pt x="0" y="100949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2076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Pehchaan!!</a:t>
              </a:r>
            </a:p>
            <a:p>
              <a:pPr algn="ctr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028700" y="1595752"/>
            <a:ext cx="15825745" cy="7662548"/>
            <a:chOff x="0" y="0"/>
            <a:chExt cx="4168097" cy="20181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68098" cy="2018120"/>
            </a:xfrm>
            <a:custGeom>
              <a:avLst/>
              <a:gdLst/>
              <a:ahLst/>
              <a:cxnLst/>
              <a:rect l="l" t="t" r="r" b="b"/>
              <a:pathLst>
                <a:path w="4168098" h="2018120">
                  <a:moveTo>
                    <a:pt x="0" y="0"/>
                  </a:moveTo>
                  <a:lnTo>
                    <a:pt x="4168098" y="0"/>
                  </a:lnTo>
                  <a:lnTo>
                    <a:pt x="4168098" y="2018120"/>
                  </a:lnTo>
                  <a:lnTo>
                    <a:pt x="0" y="2018120"/>
                  </a:ln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4168097" cy="2037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38966" y="4879108"/>
            <a:ext cx="2632697" cy="1586118"/>
            <a:chOff x="0" y="0"/>
            <a:chExt cx="693385" cy="4177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3385" cy="417743"/>
            </a:xfrm>
            <a:custGeom>
              <a:avLst/>
              <a:gdLst/>
              <a:ahLst/>
              <a:cxnLst/>
              <a:rect l="l" t="t" r="r" b="b"/>
              <a:pathLst>
                <a:path w="693385" h="417743">
                  <a:moveTo>
                    <a:pt x="149975" y="0"/>
                  </a:moveTo>
                  <a:lnTo>
                    <a:pt x="543410" y="0"/>
                  </a:lnTo>
                  <a:cubicBezTo>
                    <a:pt x="626239" y="0"/>
                    <a:pt x="693385" y="67146"/>
                    <a:pt x="693385" y="149975"/>
                  </a:cubicBezTo>
                  <a:lnTo>
                    <a:pt x="693385" y="267768"/>
                  </a:lnTo>
                  <a:cubicBezTo>
                    <a:pt x="693385" y="307544"/>
                    <a:pt x="677584" y="345691"/>
                    <a:pt x="649459" y="373816"/>
                  </a:cubicBezTo>
                  <a:cubicBezTo>
                    <a:pt x="621333" y="401942"/>
                    <a:pt x="583186" y="417743"/>
                    <a:pt x="543410" y="417743"/>
                  </a:cubicBezTo>
                  <a:lnTo>
                    <a:pt x="149975" y="417743"/>
                  </a:lnTo>
                  <a:cubicBezTo>
                    <a:pt x="110199" y="417743"/>
                    <a:pt x="72052" y="401942"/>
                    <a:pt x="43927" y="373816"/>
                  </a:cubicBezTo>
                  <a:cubicBezTo>
                    <a:pt x="15801" y="345691"/>
                    <a:pt x="0" y="307544"/>
                    <a:pt x="0" y="267768"/>
                  </a:cubicBezTo>
                  <a:lnTo>
                    <a:pt x="0" y="149975"/>
                  </a:lnTo>
                  <a:cubicBezTo>
                    <a:pt x="0" y="110199"/>
                    <a:pt x="15801" y="72052"/>
                    <a:pt x="43927" y="43927"/>
                  </a:cubicBezTo>
                  <a:cubicBezTo>
                    <a:pt x="72052" y="15801"/>
                    <a:pt x="110199" y="0"/>
                    <a:pt x="149975" y="0"/>
                  </a:cubicBezTo>
                  <a:close/>
                </a:path>
              </a:pathLst>
            </a:custGeom>
            <a:solidFill>
              <a:srgbClr val="F4BC8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693385" cy="41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3"/>
                </a:lnSpc>
              </a:pPr>
              <a:r>
                <a:rPr lang="en-US" sz="2899" b="1" spc="66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FEASIBILITY AND VIABILITY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391499" y="2614082"/>
            <a:ext cx="4335292" cy="2241404"/>
            <a:chOff x="0" y="0"/>
            <a:chExt cx="1141805" cy="5903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1805" cy="590329"/>
            </a:xfrm>
            <a:custGeom>
              <a:avLst/>
              <a:gdLst/>
              <a:ahLst/>
              <a:cxnLst/>
              <a:rect l="l" t="t" r="r" b="b"/>
              <a:pathLst>
                <a:path w="1141805" h="590329">
                  <a:moveTo>
                    <a:pt x="91075" y="0"/>
                  </a:moveTo>
                  <a:lnTo>
                    <a:pt x="1050730" y="0"/>
                  </a:lnTo>
                  <a:cubicBezTo>
                    <a:pt x="1074885" y="0"/>
                    <a:pt x="1098050" y="9595"/>
                    <a:pt x="1115130" y="26675"/>
                  </a:cubicBezTo>
                  <a:cubicBezTo>
                    <a:pt x="1132210" y="43755"/>
                    <a:pt x="1141805" y="66921"/>
                    <a:pt x="1141805" y="91075"/>
                  </a:cubicBezTo>
                  <a:lnTo>
                    <a:pt x="1141805" y="499253"/>
                  </a:lnTo>
                  <a:cubicBezTo>
                    <a:pt x="1141805" y="523408"/>
                    <a:pt x="1132210" y="546573"/>
                    <a:pt x="1115130" y="563653"/>
                  </a:cubicBezTo>
                  <a:cubicBezTo>
                    <a:pt x="1098050" y="580733"/>
                    <a:pt x="1074885" y="590329"/>
                    <a:pt x="1050730" y="590329"/>
                  </a:cubicBezTo>
                  <a:lnTo>
                    <a:pt x="91075" y="590329"/>
                  </a:lnTo>
                  <a:cubicBezTo>
                    <a:pt x="66921" y="590329"/>
                    <a:pt x="43755" y="580733"/>
                    <a:pt x="26675" y="563653"/>
                  </a:cubicBezTo>
                  <a:cubicBezTo>
                    <a:pt x="9595" y="546573"/>
                    <a:pt x="0" y="523408"/>
                    <a:pt x="0" y="499253"/>
                  </a:cubicBezTo>
                  <a:lnTo>
                    <a:pt x="0" y="91075"/>
                  </a:lnTo>
                  <a:cubicBezTo>
                    <a:pt x="0" y="66921"/>
                    <a:pt x="9595" y="43755"/>
                    <a:pt x="26675" y="26675"/>
                  </a:cubicBezTo>
                  <a:cubicBezTo>
                    <a:pt x="43755" y="9595"/>
                    <a:pt x="66921" y="0"/>
                    <a:pt x="91075" y="0"/>
                  </a:cubicBezTo>
                  <a:close/>
                </a:path>
              </a:pathLst>
            </a:custGeom>
            <a:solidFill>
              <a:srgbClr val="F4BC8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141805" cy="6093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3388" lvl="1" indent="-226694" algn="l">
                <a:lnSpc>
                  <a:spcPts val="2519"/>
                </a:lnSpc>
                <a:buAutoNum type="arabicPeriod"/>
              </a:pPr>
              <a:r>
                <a:rPr lang="en-US" sz="20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Proven tech stack — no unproven research.</a:t>
              </a:r>
            </a:p>
            <a:p>
              <a:pPr marL="453388" lvl="1" indent="-226694" algn="l">
                <a:lnSpc>
                  <a:spcPts val="2519"/>
                </a:lnSpc>
                <a:buAutoNum type="arabicPeriod"/>
              </a:pPr>
              <a:r>
                <a:rPr lang="en-US" sz="20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Modular design enablesphased rollout.</a:t>
              </a:r>
            </a:p>
            <a:p>
              <a:pPr marL="453388" lvl="1" indent="-226694" algn="l">
                <a:lnSpc>
                  <a:spcPts val="2519"/>
                </a:lnSpc>
                <a:buAutoNum type="arabicPeriod"/>
              </a:pPr>
              <a:r>
                <a:rPr lang="en-US" sz="20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On-prem deployable — meets data sovereignty.</a:t>
              </a:r>
            </a:p>
            <a:p>
              <a:pPr algn="ctr">
                <a:lnSpc>
                  <a:spcPts val="1200"/>
                </a:lnSpc>
              </a:pPr>
              <a:endParaRPr lang="en-US" sz="20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91499" y="1776523"/>
            <a:ext cx="4067123" cy="704210"/>
            <a:chOff x="0" y="0"/>
            <a:chExt cx="1071176" cy="18547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71176" cy="185471"/>
            </a:xfrm>
            <a:custGeom>
              <a:avLst/>
              <a:gdLst/>
              <a:ahLst/>
              <a:cxnLst/>
              <a:rect l="l" t="t" r="r" b="b"/>
              <a:pathLst>
                <a:path w="1071176" h="185471">
                  <a:moveTo>
                    <a:pt x="92735" y="0"/>
                  </a:moveTo>
                  <a:lnTo>
                    <a:pt x="978441" y="0"/>
                  </a:lnTo>
                  <a:cubicBezTo>
                    <a:pt x="1029657" y="0"/>
                    <a:pt x="1071176" y="41519"/>
                    <a:pt x="1071176" y="92735"/>
                  </a:cubicBezTo>
                  <a:lnTo>
                    <a:pt x="1071176" y="92735"/>
                  </a:lnTo>
                  <a:cubicBezTo>
                    <a:pt x="1071176" y="143952"/>
                    <a:pt x="1029657" y="185471"/>
                    <a:pt x="978441" y="185471"/>
                  </a:cubicBezTo>
                  <a:lnTo>
                    <a:pt x="92735" y="185471"/>
                  </a:lnTo>
                  <a:cubicBezTo>
                    <a:pt x="41519" y="185471"/>
                    <a:pt x="0" y="143952"/>
                    <a:pt x="0" y="92735"/>
                  </a:cubicBezTo>
                  <a:lnTo>
                    <a:pt x="0" y="92735"/>
                  </a:lnTo>
                  <a:cubicBezTo>
                    <a:pt x="0" y="41519"/>
                    <a:pt x="41519" y="0"/>
                    <a:pt x="92735" y="0"/>
                  </a:cubicBezTo>
                  <a:close/>
                </a:path>
              </a:pathLst>
            </a:custGeom>
            <a:solidFill>
              <a:srgbClr val="E5898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071176" cy="204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spc="22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FEASIBILITY 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5110159" y="4855486"/>
            <a:ext cx="2728808" cy="816680"/>
          </a:xfrm>
          <a:custGeom>
            <a:avLst/>
            <a:gdLst/>
            <a:ahLst/>
            <a:cxnLst/>
            <a:rect l="l" t="t" r="r" b="b"/>
            <a:pathLst>
              <a:path w="2728808" h="816680">
                <a:moveTo>
                  <a:pt x="0" y="0"/>
                </a:moveTo>
                <a:lnTo>
                  <a:pt x="0" y="114300"/>
                </a:lnTo>
                <a:cubicBezTo>
                  <a:pt x="0" y="177426"/>
                  <a:pt x="51174" y="228600"/>
                  <a:pt x="114300" y="228600"/>
                </a:cubicBezTo>
                <a:lnTo>
                  <a:pt x="1444611" y="228600"/>
                </a:lnTo>
                <a:cubicBezTo>
                  <a:pt x="1505240" y="228600"/>
                  <a:pt x="1563386" y="252684"/>
                  <a:pt x="1606256" y="295555"/>
                </a:cubicBezTo>
                <a:cubicBezTo>
                  <a:pt x="1649127" y="338426"/>
                  <a:pt x="1673211" y="396571"/>
                  <a:pt x="1673211" y="457200"/>
                </a:cubicBezTo>
                <a:lnTo>
                  <a:pt x="1673211" y="588080"/>
                </a:lnTo>
                <a:cubicBezTo>
                  <a:pt x="1673211" y="648709"/>
                  <a:pt x="1697296" y="706854"/>
                  <a:pt x="1740167" y="749725"/>
                </a:cubicBezTo>
                <a:cubicBezTo>
                  <a:pt x="1783037" y="792596"/>
                  <a:pt x="1841183" y="816680"/>
                  <a:pt x="1901811" y="816680"/>
                </a:cubicBezTo>
                <a:lnTo>
                  <a:pt x="2728807" y="81668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31"/>
          <p:cNvSpPr/>
          <p:nvPr/>
        </p:nvSpPr>
        <p:spPr>
          <a:xfrm>
            <a:off x="2391499" y="2128627"/>
            <a:ext cx="0" cy="803078"/>
          </a:xfrm>
          <a:custGeom>
            <a:avLst/>
            <a:gdLst/>
            <a:ahLst/>
            <a:cxnLst/>
            <a:rect l="l" t="t" r="r" b="b"/>
            <a:pathLst>
              <a:path h="803078">
                <a:moveTo>
                  <a:pt x="0" y="803079"/>
                </a:moveTo>
                <a:lnTo>
                  <a:pt x="0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11091741" y="2709018"/>
            <a:ext cx="4368591" cy="2403450"/>
            <a:chOff x="0" y="0"/>
            <a:chExt cx="1150575" cy="63300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50575" cy="633007"/>
            </a:xfrm>
            <a:custGeom>
              <a:avLst/>
              <a:gdLst/>
              <a:ahLst/>
              <a:cxnLst/>
              <a:rect l="l" t="t" r="r" b="b"/>
              <a:pathLst>
                <a:path w="1150575" h="633007">
                  <a:moveTo>
                    <a:pt x="90381" y="0"/>
                  </a:moveTo>
                  <a:lnTo>
                    <a:pt x="1060194" y="0"/>
                  </a:lnTo>
                  <a:cubicBezTo>
                    <a:pt x="1110110" y="0"/>
                    <a:pt x="1150575" y="40465"/>
                    <a:pt x="1150575" y="90381"/>
                  </a:cubicBezTo>
                  <a:lnTo>
                    <a:pt x="1150575" y="542626"/>
                  </a:lnTo>
                  <a:cubicBezTo>
                    <a:pt x="1150575" y="592542"/>
                    <a:pt x="1110110" y="633007"/>
                    <a:pt x="1060194" y="633007"/>
                  </a:cubicBezTo>
                  <a:lnTo>
                    <a:pt x="90381" y="633007"/>
                  </a:lnTo>
                  <a:cubicBezTo>
                    <a:pt x="40465" y="633007"/>
                    <a:pt x="0" y="592542"/>
                    <a:pt x="0" y="542626"/>
                  </a:cubicBezTo>
                  <a:lnTo>
                    <a:pt x="0" y="90381"/>
                  </a:lnTo>
                  <a:cubicBezTo>
                    <a:pt x="0" y="40465"/>
                    <a:pt x="40465" y="0"/>
                    <a:pt x="90381" y="0"/>
                  </a:cubicBezTo>
                  <a:close/>
                </a:path>
              </a:pathLst>
            </a:custGeom>
            <a:solidFill>
              <a:srgbClr val="F4BC81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150575" cy="642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53390" lvl="1" indent="-226695" algn="l">
                <a:lnSpc>
                  <a:spcPts val="2520"/>
                </a:lnSpc>
                <a:buAutoNum type="arabicPeriod"/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Fits govt mandate — officer retains authority.</a:t>
              </a:r>
            </a:p>
            <a:p>
              <a:pPr marL="453390" lvl="1" indent="-226695" algn="l">
                <a:lnSpc>
                  <a:spcPts val="2520"/>
                </a:lnSpc>
                <a:buAutoNum type="arabicPeriod"/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Minutes to seconds — major efficiency gain.</a:t>
              </a:r>
            </a:p>
            <a:p>
              <a:pPr marL="453390" lvl="1" indent="-226695" algn="l">
                <a:lnSpc>
                  <a:spcPts val="2520"/>
                </a:lnSpc>
                <a:buAutoNum type="arabicPeriod"/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Extensible to visas, IDs, licenses.</a:t>
              </a:r>
            </a:p>
            <a:p>
              <a:pPr algn="ctr">
                <a:lnSpc>
                  <a:spcPts val="2520"/>
                </a:lnSpc>
              </a:pPr>
              <a:endPara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393210" y="1823833"/>
            <a:ext cx="3644426" cy="704210"/>
            <a:chOff x="0" y="0"/>
            <a:chExt cx="959849" cy="18547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59849" cy="185471"/>
            </a:xfrm>
            <a:custGeom>
              <a:avLst/>
              <a:gdLst/>
              <a:ahLst/>
              <a:cxnLst/>
              <a:rect l="l" t="t" r="r" b="b"/>
              <a:pathLst>
                <a:path w="959849" h="185471">
                  <a:moveTo>
                    <a:pt x="92735" y="0"/>
                  </a:moveTo>
                  <a:lnTo>
                    <a:pt x="867113" y="0"/>
                  </a:lnTo>
                  <a:cubicBezTo>
                    <a:pt x="918330" y="0"/>
                    <a:pt x="959849" y="41519"/>
                    <a:pt x="959849" y="92735"/>
                  </a:cubicBezTo>
                  <a:lnTo>
                    <a:pt x="959849" y="92735"/>
                  </a:lnTo>
                  <a:cubicBezTo>
                    <a:pt x="959849" y="143952"/>
                    <a:pt x="918330" y="185471"/>
                    <a:pt x="867113" y="185471"/>
                  </a:cubicBezTo>
                  <a:lnTo>
                    <a:pt x="92735" y="185471"/>
                  </a:lnTo>
                  <a:cubicBezTo>
                    <a:pt x="41519" y="185471"/>
                    <a:pt x="0" y="143952"/>
                    <a:pt x="0" y="92735"/>
                  </a:cubicBezTo>
                  <a:lnTo>
                    <a:pt x="0" y="92735"/>
                  </a:lnTo>
                  <a:cubicBezTo>
                    <a:pt x="0" y="41519"/>
                    <a:pt x="41519" y="0"/>
                    <a:pt x="92735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959849" cy="204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spc="22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VIABILITY</a:t>
              </a:r>
            </a:p>
          </p:txBody>
        </p:sp>
      </p:grpSp>
      <p:sp>
        <p:nvSpPr>
          <p:cNvPr id="38" name="Freeform 38"/>
          <p:cNvSpPr/>
          <p:nvPr/>
        </p:nvSpPr>
        <p:spPr>
          <a:xfrm>
            <a:off x="9155315" y="3910743"/>
            <a:ext cx="1936426" cy="968365"/>
          </a:xfrm>
          <a:custGeom>
            <a:avLst/>
            <a:gdLst/>
            <a:ahLst/>
            <a:cxnLst/>
            <a:rect l="l" t="t" r="r" b="b"/>
            <a:pathLst>
              <a:path w="1936426" h="968365">
                <a:moveTo>
                  <a:pt x="1936426" y="0"/>
                </a:moveTo>
                <a:lnTo>
                  <a:pt x="228600" y="0"/>
                </a:lnTo>
                <a:cubicBezTo>
                  <a:pt x="102348" y="0"/>
                  <a:pt x="0" y="102347"/>
                  <a:pt x="0" y="228600"/>
                </a:cubicBezTo>
                <a:lnTo>
                  <a:pt x="0" y="968365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Freeform 39"/>
          <p:cNvSpPr/>
          <p:nvPr/>
        </p:nvSpPr>
        <p:spPr>
          <a:xfrm>
            <a:off x="15037636" y="2175938"/>
            <a:ext cx="422697" cy="1734805"/>
          </a:xfrm>
          <a:custGeom>
            <a:avLst/>
            <a:gdLst/>
            <a:ahLst/>
            <a:cxnLst/>
            <a:rect l="l" t="t" r="r" b="b"/>
            <a:pathLst>
              <a:path w="422697" h="1734805">
                <a:moveTo>
                  <a:pt x="422696" y="1734805"/>
                </a:moveTo>
                <a:lnTo>
                  <a:pt x="422696" y="1078751"/>
                </a:lnTo>
                <a:cubicBezTo>
                  <a:pt x="422696" y="1022698"/>
                  <a:pt x="400429" y="968940"/>
                  <a:pt x="360793" y="929305"/>
                </a:cubicBezTo>
                <a:cubicBezTo>
                  <a:pt x="321158" y="889669"/>
                  <a:pt x="267400" y="867402"/>
                  <a:pt x="211348" y="867402"/>
                </a:cubicBezTo>
                <a:lnTo>
                  <a:pt x="211348" y="867402"/>
                </a:lnTo>
                <a:cubicBezTo>
                  <a:pt x="155296" y="867402"/>
                  <a:pt x="101538" y="845135"/>
                  <a:pt x="61903" y="805500"/>
                </a:cubicBezTo>
                <a:cubicBezTo>
                  <a:pt x="22266" y="765864"/>
                  <a:pt x="0" y="712107"/>
                  <a:pt x="0" y="656054"/>
                </a:cubicBezTo>
                <a:lnTo>
                  <a:pt x="0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2391499" y="6533329"/>
            <a:ext cx="4335292" cy="2545112"/>
            <a:chOff x="0" y="0"/>
            <a:chExt cx="1141805" cy="67031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41805" cy="670318"/>
            </a:xfrm>
            <a:custGeom>
              <a:avLst/>
              <a:gdLst/>
              <a:ahLst/>
              <a:cxnLst/>
              <a:rect l="l" t="t" r="r" b="b"/>
              <a:pathLst>
                <a:path w="1141805" h="670318">
                  <a:moveTo>
                    <a:pt x="91075" y="0"/>
                  </a:moveTo>
                  <a:lnTo>
                    <a:pt x="1050730" y="0"/>
                  </a:lnTo>
                  <a:cubicBezTo>
                    <a:pt x="1074885" y="0"/>
                    <a:pt x="1098050" y="9595"/>
                    <a:pt x="1115130" y="26675"/>
                  </a:cubicBezTo>
                  <a:cubicBezTo>
                    <a:pt x="1132210" y="43755"/>
                    <a:pt x="1141805" y="66921"/>
                    <a:pt x="1141805" y="91075"/>
                  </a:cubicBezTo>
                  <a:lnTo>
                    <a:pt x="1141805" y="579242"/>
                  </a:lnTo>
                  <a:cubicBezTo>
                    <a:pt x="1141805" y="603397"/>
                    <a:pt x="1132210" y="626562"/>
                    <a:pt x="1115130" y="643642"/>
                  </a:cubicBezTo>
                  <a:cubicBezTo>
                    <a:pt x="1098050" y="660722"/>
                    <a:pt x="1074885" y="670318"/>
                    <a:pt x="1050730" y="670318"/>
                  </a:cubicBezTo>
                  <a:lnTo>
                    <a:pt x="91075" y="670318"/>
                  </a:lnTo>
                  <a:cubicBezTo>
                    <a:pt x="40776" y="670318"/>
                    <a:pt x="0" y="629542"/>
                    <a:pt x="0" y="579242"/>
                  </a:cubicBezTo>
                  <a:lnTo>
                    <a:pt x="0" y="91075"/>
                  </a:lnTo>
                  <a:cubicBezTo>
                    <a:pt x="0" y="66921"/>
                    <a:pt x="9595" y="43755"/>
                    <a:pt x="26675" y="26675"/>
                  </a:cubicBezTo>
                  <a:cubicBezTo>
                    <a:pt x="43755" y="9595"/>
                    <a:pt x="66921" y="0"/>
                    <a:pt x="91075" y="0"/>
                  </a:cubicBezTo>
                  <a:close/>
                </a:path>
              </a:pathLst>
            </a:custGeom>
            <a:solidFill>
              <a:srgbClr val="F4BC81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1141805" cy="689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74978" lvl="1" indent="-237489" algn="l">
                <a:lnSpc>
                  <a:spcPts val="2639"/>
                </a:lnSpc>
                <a:buAutoNum type="arabicPeriod"/>
              </a:pPr>
              <a:r>
                <a:rPr lang="en-US" sz="21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Real-time processing under passenger bursts.</a:t>
              </a:r>
            </a:p>
            <a:p>
              <a:pPr marL="474978" lvl="1" indent="-237489" algn="l">
                <a:lnSpc>
                  <a:spcPts val="2639"/>
                </a:lnSpc>
                <a:buAutoNum type="arabicPeriod"/>
              </a:pPr>
              <a:r>
                <a:rPr lang="en-US" sz="21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False positives on degraded/rescanned docs.</a:t>
              </a:r>
            </a:p>
            <a:p>
              <a:pPr marL="474978" lvl="1" indent="-237489" algn="l">
                <a:lnSpc>
                  <a:spcPts val="2639"/>
                </a:lnSpc>
                <a:buAutoNum type="arabicPeriod"/>
              </a:pPr>
              <a:r>
                <a:rPr lang="en-US" sz="21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Data security &amp; privacy of biometric data.</a:t>
              </a:r>
            </a:p>
            <a:p>
              <a:pPr algn="ctr">
                <a:lnSpc>
                  <a:spcPts val="1080"/>
                </a:lnSpc>
              </a:pPr>
              <a:endPara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525584" y="5383933"/>
            <a:ext cx="4067123" cy="1081293"/>
            <a:chOff x="0" y="0"/>
            <a:chExt cx="1071176" cy="28478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71176" cy="284785"/>
            </a:xfrm>
            <a:custGeom>
              <a:avLst/>
              <a:gdLst/>
              <a:ahLst/>
              <a:cxnLst/>
              <a:rect l="l" t="t" r="r" b="b"/>
              <a:pathLst>
                <a:path w="1071176" h="284785">
                  <a:moveTo>
                    <a:pt x="97080" y="0"/>
                  </a:moveTo>
                  <a:lnTo>
                    <a:pt x="974096" y="0"/>
                  </a:lnTo>
                  <a:cubicBezTo>
                    <a:pt x="1027712" y="0"/>
                    <a:pt x="1071176" y="43464"/>
                    <a:pt x="1071176" y="97080"/>
                  </a:cubicBezTo>
                  <a:lnTo>
                    <a:pt x="1071176" y="187704"/>
                  </a:lnTo>
                  <a:cubicBezTo>
                    <a:pt x="1071176" y="213452"/>
                    <a:pt x="1060948" y="238145"/>
                    <a:pt x="1042742" y="256351"/>
                  </a:cubicBezTo>
                  <a:cubicBezTo>
                    <a:pt x="1024536" y="274557"/>
                    <a:pt x="999843" y="284785"/>
                    <a:pt x="974096" y="284785"/>
                  </a:cubicBezTo>
                  <a:lnTo>
                    <a:pt x="97080" y="284785"/>
                  </a:lnTo>
                  <a:cubicBezTo>
                    <a:pt x="71333" y="284785"/>
                    <a:pt x="46640" y="274557"/>
                    <a:pt x="28434" y="256351"/>
                  </a:cubicBezTo>
                  <a:cubicBezTo>
                    <a:pt x="10228" y="238145"/>
                    <a:pt x="0" y="213452"/>
                    <a:pt x="0" y="187704"/>
                  </a:cubicBezTo>
                  <a:lnTo>
                    <a:pt x="0" y="97080"/>
                  </a:lnTo>
                  <a:cubicBezTo>
                    <a:pt x="0" y="71333"/>
                    <a:pt x="10228" y="46640"/>
                    <a:pt x="28434" y="28434"/>
                  </a:cubicBezTo>
                  <a:cubicBezTo>
                    <a:pt x="46640" y="10228"/>
                    <a:pt x="71333" y="0"/>
                    <a:pt x="9708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1071176" cy="303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spc="22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CHALLENGES AND RISKS</a:t>
              </a:r>
            </a:p>
          </p:txBody>
        </p:sp>
      </p:grpSp>
      <p:sp>
        <p:nvSpPr>
          <p:cNvPr id="46" name="Freeform 46"/>
          <p:cNvSpPr/>
          <p:nvPr/>
        </p:nvSpPr>
        <p:spPr>
          <a:xfrm>
            <a:off x="6726791" y="6465225"/>
            <a:ext cx="2428524" cy="1340660"/>
          </a:xfrm>
          <a:custGeom>
            <a:avLst/>
            <a:gdLst/>
            <a:ahLst/>
            <a:cxnLst/>
            <a:rect l="l" t="t" r="r" b="b"/>
            <a:pathLst>
              <a:path w="2428524" h="1340660">
                <a:moveTo>
                  <a:pt x="0" y="1340660"/>
                </a:moveTo>
                <a:lnTo>
                  <a:pt x="2199924" y="1340660"/>
                </a:lnTo>
                <a:cubicBezTo>
                  <a:pt x="2260553" y="1340660"/>
                  <a:pt x="2318698" y="1316575"/>
                  <a:pt x="2361568" y="1273704"/>
                </a:cubicBezTo>
                <a:cubicBezTo>
                  <a:pt x="2404439" y="1230834"/>
                  <a:pt x="2428524" y="1172689"/>
                  <a:pt x="2428524" y="1112060"/>
                </a:cubicBezTo>
                <a:lnTo>
                  <a:pt x="2428524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Freeform 47"/>
          <p:cNvSpPr/>
          <p:nvPr/>
        </p:nvSpPr>
        <p:spPr>
          <a:xfrm>
            <a:off x="2391499" y="5924579"/>
            <a:ext cx="134085" cy="1881306"/>
          </a:xfrm>
          <a:custGeom>
            <a:avLst/>
            <a:gdLst/>
            <a:ahLst/>
            <a:cxnLst/>
            <a:rect l="l" t="t" r="r" b="b"/>
            <a:pathLst>
              <a:path w="134085" h="1881306">
                <a:moveTo>
                  <a:pt x="134085" y="0"/>
                </a:moveTo>
                <a:lnTo>
                  <a:pt x="134085" y="873611"/>
                </a:lnTo>
                <a:cubicBezTo>
                  <a:pt x="134085" y="891392"/>
                  <a:pt x="127021" y="908444"/>
                  <a:pt x="114448" y="921017"/>
                </a:cubicBezTo>
                <a:cubicBezTo>
                  <a:pt x="101876" y="933590"/>
                  <a:pt x="84823" y="940653"/>
                  <a:pt x="67042" y="940653"/>
                </a:cubicBezTo>
                <a:lnTo>
                  <a:pt x="67042" y="940653"/>
                </a:lnTo>
                <a:cubicBezTo>
                  <a:pt x="49262" y="940653"/>
                  <a:pt x="32209" y="947716"/>
                  <a:pt x="19636" y="960289"/>
                </a:cubicBezTo>
                <a:cubicBezTo>
                  <a:pt x="7063" y="972862"/>
                  <a:pt x="0" y="989914"/>
                  <a:pt x="0" y="1007696"/>
                </a:cubicBezTo>
                <a:lnTo>
                  <a:pt x="0" y="1881306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8" name="Group 48"/>
          <p:cNvGrpSpPr/>
          <p:nvPr/>
        </p:nvGrpSpPr>
        <p:grpSpPr>
          <a:xfrm>
            <a:off x="11393210" y="5489447"/>
            <a:ext cx="4067123" cy="1081293"/>
            <a:chOff x="0" y="0"/>
            <a:chExt cx="1071176" cy="28478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71176" cy="284785"/>
            </a:xfrm>
            <a:custGeom>
              <a:avLst/>
              <a:gdLst/>
              <a:ahLst/>
              <a:cxnLst/>
              <a:rect l="l" t="t" r="r" b="b"/>
              <a:pathLst>
                <a:path w="1071176" h="284785">
                  <a:moveTo>
                    <a:pt x="97080" y="0"/>
                  </a:moveTo>
                  <a:lnTo>
                    <a:pt x="974096" y="0"/>
                  </a:lnTo>
                  <a:cubicBezTo>
                    <a:pt x="1027712" y="0"/>
                    <a:pt x="1071176" y="43464"/>
                    <a:pt x="1071176" y="97080"/>
                  </a:cubicBezTo>
                  <a:lnTo>
                    <a:pt x="1071176" y="187704"/>
                  </a:lnTo>
                  <a:cubicBezTo>
                    <a:pt x="1071176" y="213452"/>
                    <a:pt x="1060948" y="238145"/>
                    <a:pt x="1042742" y="256351"/>
                  </a:cubicBezTo>
                  <a:cubicBezTo>
                    <a:pt x="1024536" y="274557"/>
                    <a:pt x="999843" y="284785"/>
                    <a:pt x="974096" y="284785"/>
                  </a:cubicBezTo>
                  <a:lnTo>
                    <a:pt x="97080" y="284785"/>
                  </a:lnTo>
                  <a:cubicBezTo>
                    <a:pt x="71333" y="284785"/>
                    <a:pt x="46640" y="274557"/>
                    <a:pt x="28434" y="256351"/>
                  </a:cubicBezTo>
                  <a:cubicBezTo>
                    <a:pt x="10228" y="238145"/>
                    <a:pt x="0" y="213452"/>
                    <a:pt x="0" y="187704"/>
                  </a:cubicBezTo>
                  <a:lnTo>
                    <a:pt x="0" y="97080"/>
                  </a:lnTo>
                  <a:cubicBezTo>
                    <a:pt x="0" y="71333"/>
                    <a:pt x="10228" y="46640"/>
                    <a:pt x="28434" y="28434"/>
                  </a:cubicBezTo>
                  <a:cubicBezTo>
                    <a:pt x="46640" y="10228"/>
                    <a:pt x="71333" y="0"/>
                    <a:pt x="97080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071176" cy="303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spc="22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CHALLENGES AND RISKS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091741" y="6713188"/>
            <a:ext cx="4368591" cy="2365253"/>
            <a:chOff x="0" y="0"/>
            <a:chExt cx="1150575" cy="62294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50575" cy="622947"/>
            </a:xfrm>
            <a:custGeom>
              <a:avLst/>
              <a:gdLst/>
              <a:ahLst/>
              <a:cxnLst/>
              <a:rect l="l" t="t" r="r" b="b"/>
              <a:pathLst>
                <a:path w="1150575" h="622947">
                  <a:moveTo>
                    <a:pt x="90381" y="0"/>
                  </a:moveTo>
                  <a:lnTo>
                    <a:pt x="1060194" y="0"/>
                  </a:lnTo>
                  <a:cubicBezTo>
                    <a:pt x="1110110" y="0"/>
                    <a:pt x="1150575" y="40465"/>
                    <a:pt x="1150575" y="90381"/>
                  </a:cubicBezTo>
                  <a:lnTo>
                    <a:pt x="1150575" y="532566"/>
                  </a:lnTo>
                  <a:cubicBezTo>
                    <a:pt x="1150575" y="582482"/>
                    <a:pt x="1110110" y="622947"/>
                    <a:pt x="1060194" y="622947"/>
                  </a:cubicBezTo>
                  <a:lnTo>
                    <a:pt x="90381" y="622947"/>
                  </a:lnTo>
                  <a:cubicBezTo>
                    <a:pt x="40465" y="622947"/>
                    <a:pt x="0" y="582482"/>
                    <a:pt x="0" y="532566"/>
                  </a:cubicBezTo>
                  <a:lnTo>
                    <a:pt x="0" y="90381"/>
                  </a:lnTo>
                  <a:cubicBezTo>
                    <a:pt x="0" y="40465"/>
                    <a:pt x="40465" y="0"/>
                    <a:pt x="90381" y="0"/>
                  </a:cubicBezTo>
                  <a:close/>
                </a:path>
              </a:pathLst>
            </a:custGeom>
            <a:solidFill>
              <a:srgbClr val="F4BC81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150575" cy="641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74978" lvl="1" indent="-237489" algn="l">
                <a:lnSpc>
                  <a:spcPts val="2639"/>
                </a:lnSpc>
                <a:buAutoNum type="arabicPeriod"/>
              </a:pPr>
              <a:r>
                <a:rPr lang="en-US" sz="21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Explainable AI for officer trust &amp; audit.</a:t>
              </a:r>
            </a:p>
            <a:p>
              <a:pPr marL="474978" lvl="1" indent="-237489" algn="l">
                <a:lnSpc>
                  <a:spcPts val="2639"/>
                </a:lnSpc>
                <a:buAutoNum type="arabicPeriod"/>
              </a:pPr>
              <a:r>
                <a:rPr lang="en-US" sz="21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Hybrid edge/cloud compute architecture.</a:t>
              </a:r>
            </a:p>
            <a:p>
              <a:pPr marL="474978" lvl="1" indent="-237489" algn="l">
                <a:lnSpc>
                  <a:spcPts val="2639"/>
                </a:lnSpc>
                <a:buAutoNum type="arabicPeriod"/>
              </a:pPr>
              <a:r>
                <a:rPr lang="en-US" sz="21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Human-in-the-loop absorbs false positives.</a:t>
              </a:r>
            </a:p>
            <a:p>
              <a:pPr algn="ctr">
                <a:lnSpc>
                  <a:spcPts val="1080"/>
                </a:lnSpc>
              </a:pPr>
              <a:endPara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54" name="Freeform 54"/>
          <p:cNvSpPr/>
          <p:nvPr/>
        </p:nvSpPr>
        <p:spPr>
          <a:xfrm>
            <a:off x="10555022" y="5672166"/>
            <a:ext cx="959044" cy="430921"/>
          </a:xfrm>
          <a:custGeom>
            <a:avLst/>
            <a:gdLst/>
            <a:ahLst/>
            <a:cxnLst/>
            <a:rect l="l" t="t" r="r" b="b"/>
            <a:pathLst>
              <a:path w="959044" h="430921">
                <a:moveTo>
                  <a:pt x="0" y="0"/>
                </a:moveTo>
                <a:lnTo>
                  <a:pt x="264061" y="0"/>
                </a:lnTo>
                <a:cubicBezTo>
                  <a:pt x="383057" y="0"/>
                  <a:pt x="479522" y="96465"/>
                  <a:pt x="479522" y="215461"/>
                </a:cubicBezTo>
                <a:lnTo>
                  <a:pt x="479522" y="215461"/>
                </a:lnTo>
                <a:cubicBezTo>
                  <a:pt x="479522" y="334456"/>
                  <a:pt x="575986" y="430921"/>
                  <a:pt x="694982" y="430921"/>
                </a:cubicBezTo>
                <a:lnTo>
                  <a:pt x="959043" y="430921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Freeform 55"/>
          <p:cNvSpPr/>
          <p:nvPr/>
        </p:nvSpPr>
        <p:spPr>
          <a:xfrm>
            <a:off x="15460332" y="6030093"/>
            <a:ext cx="0" cy="932861"/>
          </a:xfrm>
          <a:custGeom>
            <a:avLst/>
            <a:gdLst/>
            <a:ahLst/>
            <a:cxnLst/>
            <a:rect l="l" t="t" r="r" b="b"/>
            <a:pathLst>
              <a:path h="932861">
                <a:moveTo>
                  <a:pt x="0" y="932861"/>
                </a:moveTo>
                <a:lnTo>
                  <a:pt x="0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616449" y="1264091"/>
            <a:ext cx="95323" cy="109048"/>
          </a:xfrm>
          <a:prstGeom prst="line">
            <a:avLst/>
          </a:prstGeom>
          <a:ln w="9525" cap="rnd">
            <a:solidFill>
              <a:srgbClr val="0B35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8228093" y="1177648"/>
            <a:ext cx="163958" cy="177685"/>
          </a:xfrm>
          <a:prstGeom prst="line">
            <a:avLst/>
          </a:prstGeom>
          <a:ln w="9525" cap="rnd">
            <a:solidFill>
              <a:srgbClr val="0B35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510178" y="2020119"/>
            <a:ext cx="7737300" cy="681761"/>
            <a:chOff x="0" y="0"/>
            <a:chExt cx="10316400" cy="9090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16464" cy="909066"/>
            </a:xfrm>
            <a:custGeom>
              <a:avLst/>
              <a:gdLst/>
              <a:ahLst/>
              <a:cxnLst/>
              <a:rect l="l" t="t" r="r" b="b"/>
              <a:pathLst>
                <a:path w="10316464" h="909066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10164953" y="0"/>
                  </a:lnTo>
                  <a:cubicBezTo>
                    <a:pt x="10248647" y="0"/>
                    <a:pt x="10316464" y="67818"/>
                    <a:pt x="10316464" y="151511"/>
                  </a:cubicBezTo>
                  <a:lnTo>
                    <a:pt x="10316464" y="757555"/>
                  </a:lnTo>
                  <a:cubicBezTo>
                    <a:pt x="10316464" y="841248"/>
                    <a:pt x="10248647" y="909066"/>
                    <a:pt x="10164953" y="909066"/>
                  </a:cubicBezTo>
                  <a:lnTo>
                    <a:pt x="151511" y="909066"/>
                  </a:lnTo>
                  <a:cubicBezTo>
                    <a:pt x="67818" y="909066"/>
                    <a:pt x="0" y="841121"/>
                    <a:pt x="0" y="757555"/>
                  </a:cubicBezTo>
                  <a:close/>
                </a:path>
              </a:pathLst>
            </a:custGeom>
            <a:solidFill>
              <a:srgbClr val="EAF5FF"/>
            </a:solidFill>
            <a:ln w="22878" cap="sq">
              <a:solidFill>
                <a:srgbClr val="C7E2F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345216" y="2086461"/>
            <a:ext cx="4529823" cy="343167"/>
            <a:chOff x="0" y="0"/>
            <a:chExt cx="6039764" cy="4575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39758" cy="457557"/>
            </a:xfrm>
            <a:custGeom>
              <a:avLst/>
              <a:gdLst/>
              <a:ahLst/>
              <a:cxnLst/>
              <a:rect l="l" t="t" r="r" b="b"/>
              <a:pathLst>
                <a:path w="6039758" h="457557">
                  <a:moveTo>
                    <a:pt x="0" y="0"/>
                  </a:moveTo>
                  <a:lnTo>
                    <a:pt x="6039758" y="0"/>
                  </a:lnTo>
                  <a:lnTo>
                    <a:pt x="603975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7202" b="-20720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039764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2"/>
                </a:lnSpc>
              </a:pPr>
              <a:r>
                <a:rPr lang="en-US" sz="2702" b="1">
                  <a:solidFill>
                    <a:srgbClr val="0B35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OPERATIONAL IMPACT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5216" y="2415902"/>
            <a:ext cx="2059010" cy="192176"/>
            <a:chOff x="0" y="0"/>
            <a:chExt cx="2745346" cy="2562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345" cy="256232"/>
            </a:xfrm>
            <a:custGeom>
              <a:avLst/>
              <a:gdLst/>
              <a:ahLst/>
              <a:cxnLst/>
              <a:rect l="l" t="t" r="r" b="b"/>
              <a:pathLst>
                <a:path w="2745345" h="256232">
                  <a:moveTo>
                    <a:pt x="0" y="0"/>
                  </a:moveTo>
                  <a:lnTo>
                    <a:pt x="2745345" y="0"/>
                  </a:lnTo>
                  <a:lnTo>
                    <a:pt x="2745345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8767" b="-15876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745346" cy="265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(Immediate)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0247" y="2020119"/>
            <a:ext cx="7737300" cy="681761"/>
            <a:chOff x="0" y="0"/>
            <a:chExt cx="10316400" cy="9090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316464" cy="909066"/>
            </a:xfrm>
            <a:custGeom>
              <a:avLst/>
              <a:gdLst/>
              <a:ahLst/>
              <a:cxnLst/>
              <a:rect l="l" t="t" r="r" b="b"/>
              <a:pathLst>
                <a:path w="10316464" h="909066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10164953" y="0"/>
                  </a:lnTo>
                  <a:cubicBezTo>
                    <a:pt x="10248647" y="0"/>
                    <a:pt x="10316464" y="67818"/>
                    <a:pt x="10316464" y="151511"/>
                  </a:cubicBezTo>
                  <a:lnTo>
                    <a:pt x="10316464" y="757555"/>
                  </a:lnTo>
                  <a:cubicBezTo>
                    <a:pt x="10316464" y="841248"/>
                    <a:pt x="10248647" y="909066"/>
                    <a:pt x="10164953" y="909066"/>
                  </a:cubicBezTo>
                  <a:lnTo>
                    <a:pt x="151511" y="909066"/>
                  </a:lnTo>
                  <a:cubicBezTo>
                    <a:pt x="67818" y="909066"/>
                    <a:pt x="0" y="841121"/>
                    <a:pt x="0" y="757555"/>
                  </a:cubicBezTo>
                  <a:close/>
                </a:path>
              </a:pathLst>
            </a:custGeom>
            <a:solidFill>
              <a:srgbClr val="EAF9F4"/>
            </a:solidFill>
            <a:ln w="22878" cap="sq">
              <a:solidFill>
                <a:srgbClr val="C7E9DF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885294" y="2086461"/>
            <a:ext cx="4255284" cy="343167"/>
            <a:chOff x="0" y="0"/>
            <a:chExt cx="5673712" cy="4575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73713" cy="457557"/>
            </a:xfrm>
            <a:custGeom>
              <a:avLst/>
              <a:gdLst/>
              <a:ahLst/>
              <a:cxnLst/>
              <a:rect l="l" t="t" r="r" b="b"/>
              <a:pathLst>
                <a:path w="5673713" h="457557">
                  <a:moveTo>
                    <a:pt x="0" y="0"/>
                  </a:moveTo>
                  <a:lnTo>
                    <a:pt x="5673713" y="0"/>
                  </a:lnTo>
                  <a:lnTo>
                    <a:pt x="5673713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1614" b="-19161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673712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2"/>
                </a:lnSpc>
              </a:pPr>
              <a:r>
                <a:rPr lang="en-US" sz="2702" b="1">
                  <a:solidFill>
                    <a:srgbClr val="087A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 &amp; TRUST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885294" y="2415902"/>
            <a:ext cx="1921745" cy="192176"/>
            <a:chOff x="0" y="0"/>
            <a:chExt cx="2562327" cy="2562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62322" cy="256232"/>
            </a:xfrm>
            <a:custGeom>
              <a:avLst/>
              <a:gdLst/>
              <a:ahLst/>
              <a:cxnLst/>
              <a:rect l="l" t="t" r="r" b="b"/>
              <a:pathLst>
                <a:path w="2562322" h="256232">
                  <a:moveTo>
                    <a:pt x="0" y="0"/>
                  </a:moveTo>
                  <a:lnTo>
                    <a:pt x="2562322" y="0"/>
                  </a:lnTo>
                  <a:lnTo>
                    <a:pt x="256232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2562327" cy="265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(Long-term)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0178" y="2733904"/>
            <a:ext cx="7737300" cy="1162193"/>
            <a:chOff x="0" y="0"/>
            <a:chExt cx="10316400" cy="15495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16464" cy="1549654"/>
            </a:xfrm>
            <a:custGeom>
              <a:avLst/>
              <a:gdLst/>
              <a:ahLst/>
              <a:cxnLst/>
              <a:rect l="l" t="t" r="r" b="b"/>
              <a:pathLst>
                <a:path w="10316464" h="1549654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58146" y="0"/>
                  </a:lnTo>
                  <a:cubicBezTo>
                    <a:pt x="10200767" y="0"/>
                    <a:pt x="10316464" y="115570"/>
                    <a:pt x="10316464" y="258318"/>
                  </a:cubicBezTo>
                  <a:lnTo>
                    <a:pt x="10316464" y="1291336"/>
                  </a:lnTo>
                  <a:cubicBezTo>
                    <a:pt x="10316464" y="1433957"/>
                    <a:pt x="10200894" y="1549654"/>
                    <a:pt x="10058146" y="1549654"/>
                  </a:cubicBezTo>
                  <a:lnTo>
                    <a:pt x="258318" y="1549654"/>
                  </a:lnTo>
                  <a:cubicBezTo>
                    <a:pt x="115570" y="1549654"/>
                    <a:pt x="0" y="1433957"/>
                    <a:pt x="0" y="1291336"/>
                  </a:cubicBezTo>
                  <a:close/>
                </a:path>
              </a:pathLst>
            </a:custGeom>
            <a:solidFill>
              <a:srgbClr val="C7E2FA">
                <a:alpha val="9804"/>
              </a:srgbClr>
            </a:solidFill>
            <a:ln w="22878" cap="sq">
              <a:solidFill>
                <a:srgbClr val="C7E2FA">
                  <a:alpha val="9804"/>
                </a:srgbClr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58882" y="2882608"/>
            <a:ext cx="645157" cy="356892"/>
            <a:chOff x="0" y="0"/>
            <a:chExt cx="860209" cy="4758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60298" cy="475869"/>
            </a:xfrm>
            <a:custGeom>
              <a:avLst/>
              <a:gdLst/>
              <a:ahLst/>
              <a:cxnLst/>
              <a:rect l="l" t="t" r="r" b="b"/>
              <a:pathLst>
                <a:path w="860298" h="47586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80923" y="0"/>
                  </a:lnTo>
                  <a:cubicBezTo>
                    <a:pt x="824738" y="0"/>
                    <a:pt x="860298" y="35560"/>
                    <a:pt x="860298" y="79375"/>
                  </a:cubicBezTo>
                  <a:lnTo>
                    <a:pt x="860298" y="396494"/>
                  </a:lnTo>
                  <a:cubicBezTo>
                    <a:pt x="860298" y="440309"/>
                    <a:pt x="824738" y="475869"/>
                    <a:pt x="780923" y="475869"/>
                  </a:cubicBezTo>
                  <a:lnTo>
                    <a:pt x="79375" y="475869"/>
                  </a:lnTo>
                  <a:cubicBezTo>
                    <a:pt x="35560" y="475869"/>
                    <a:pt x="0" y="440309"/>
                    <a:pt x="0" y="396494"/>
                  </a:cubicBezTo>
                  <a:close/>
                </a:path>
              </a:pathLst>
            </a:custGeom>
            <a:solidFill>
              <a:srgbClr val="EAF5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58882" y="2889475"/>
            <a:ext cx="645157" cy="274539"/>
            <a:chOff x="0" y="0"/>
            <a:chExt cx="860209" cy="3660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0208" cy="366046"/>
            </a:xfrm>
            <a:custGeom>
              <a:avLst/>
              <a:gdLst/>
              <a:ahLst/>
              <a:cxnLst/>
              <a:rect l="l" t="t" r="r" b="b"/>
              <a:pathLst>
                <a:path w="860208" h="366046">
                  <a:moveTo>
                    <a:pt x="0" y="0"/>
                  </a:moveTo>
                  <a:lnTo>
                    <a:pt x="860208" y="0"/>
                  </a:lnTo>
                  <a:lnTo>
                    <a:pt x="86020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8" r="-4598" b="-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86020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1677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09941" y="2951245"/>
            <a:ext cx="727520" cy="727520"/>
            <a:chOff x="0" y="0"/>
            <a:chExt cx="970026" cy="97002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70026" cy="970026"/>
            </a:xfrm>
            <a:custGeom>
              <a:avLst/>
              <a:gdLst/>
              <a:ahLst/>
              <a:cxnLst/>
              <a:rect l="l" t="t" r="r" b="b"/>
              <a:pathLst>
                <a:path w="970026" h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1677D2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505169" y="3088510"/>
            <a:ext cx="727520" cy="411804"/>
            <a:chOff x="0" y="0"/>
            <a:chExt cx="970026" cy="5490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0022" cy="549069"/>
            </a:xfrm>
            <a:custGeom>
              <a:avLst/>
              <a:gdLst/>
              <a:ahLst/>
              <a:cxnLst/>
              <a:rect l="l" t="t" r="r" b="b"/>
              <a:pathLst>
                <a:path w="970022" h="549069">
                  <a:moveTo>
                    <a:pt x="0" y="0"/>
                  </a:moveTo>
                  <a:lnTo>
                    <a:pt x="970022" y="0"/>
                  </a:lnTo>
                  <a:lnTo>
                    <a:pt x="9700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97002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2"/>
                </a:lnSpc>
              </a:pPr>
              <a:r>
                <a:rPr lang="en-US" sz="3152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⏱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470814" y="2923794"/>
            <a:ext cx="5449510" cy="370618"/>
            <a:chOff x="0" y="0"/>
            <a:chExt cx="7266013" cy="49415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266012" cy="494162"/>
            </a:xfrm>
            <a:custGeom>
              <a:avLst/>
              <a:gdLst/>
              <a:ahLst/>
              <a:cxnLst/>
              <a:rect l="l" t="t" r="r" b="b"/>
              <a:pathLst>
                <a:path w="7266012" h="494162">
                  <a:moveTo>
                    <a:pt x="0" y="0"/>
                  </a:moveTo>
                  <a:lnTo>
                    <a:pt x="7266012" y="0"/>
                  </a:lnTo>
                  <a:lnTo>
                    <a:pt x="7266012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6502" b="-23650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7266013" cy="494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0B35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Faster Verification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470814" y="3363049"/>
            <a:ext cx="5449510" cy="384353"/>
            <a:chOff x="0" y="0"/>
            <a:chExt cx="7266013" cy="5124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266012" cy="512464"/>
            </a:xfrm>
            <a:custGeom>
              <a:avLst/>
              <a:gdLst/>
              <a:ahLst/>
              <a:cxnLst/>
              <a:rect l="l" t="t" r="r" b="b"/>
              <a:pathLst>
                <a:path w="7266012" h="512464">
                  <a:moveTo>
                    <a:pt x="0" y="0"/>
                  </a:moveTo>
                  <a:lnTo>
                    <a:pt x="7266012" y="0"/>
                  </a:lnTo>
                  <a:lnTo>
                    <a:pt x="726601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6269" b="-22627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726601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Minutes → seconds per document.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10178" y="4051668"/>
            <a:ext cx="7737300" cy="1162193"/>
            <a:chOff x="0" y="0"/>
            <a:chExt cx="10316400" cy="154959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316464" cy="1549654"/>
            </a:xfrm>
            <a:custGeom>
              <a:avLst/>
              <a:gdLst/>
              <a:ahLst/>
              <a:cxnLst/>
              <a:rect l="l" t="t" r="r" b="b"/>
              <a:pathLst>
                <a:path w="10316464" h="1549654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58146" y="0"/>
                  </a:lnTo>
                  <a:cubicBezTo>
                    <a:pt x="10200767" y="0"/>
                    <a:pt x="10316464" y="115570"/>
                    <a:pt x="10316464" y="258318"/>
                  </a:cubicBezTo>
                  <a:lnTo>
                    <a:pt x="10316464" y="1291336"/>
                  </a:lnTo>
                  <a:cubicBezTo>
                    <a:pt x="10316464" y="1433957"/>
                    <a:pt x="10200894" y="1549654"/>
                    <a:pt x="10058146" y="1549654"/>
                  </a:cubicBezTo>
                  <a:lnTo>
                    <a:pt x="258318" y="1549654"/>
                  </a:lnTo>
                  <a:cubicBezTo>
                    <a:pt x="115570" y="1549654"/>
                    <a:pt x="0" y="1433957"/>
                    <a:pt x="0" y="1291336"/>
                  </a:cubicBezTo>
                  <a:close/>
                </a:path>
              </a:pathLst>
            </a:custGeom>
            <a:solidFill>
              <a:srgbClr val="C7E2FA">
                <a:alpha val="10980"/>
              </a:srgbClr>
            </a:solidFill>
            <a:ln w="22878" cap="sq">
              <a:solidFill>
                <a:srgbClr val="D8CCF5">
                  <a:alpha val="10980"/>
                </a:srgbClr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58882" y="4200382"/>
            <a:ext cx="645157" cy="356892"/>
            <a:chOff x="0" y="0"/>
            <a:chExt cx="860209" cy="47585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60298" cy="475869"/>
            </a:xfrm>
            <a:custGeom>
              <a:avLst/>
              <a:gdLst/>
              <a:ahLst/>
              <a:cxnLst/>
              <a:rect l="l" t="t" r="r" b="b"/>
              <a:pathLst>
                <a:path w="860298" h="47586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80923" y="0"/>
                  </a:lnTo>
                  <a:cubicBezTo>
                    <a:pt x="824738" y="0"/>
                    <a:pt x="860298" y="35560"/>
                    <a:pt x="860298" y="79375"/>
                  </a:cubicBezTo>
                  <a:lnTo>
                    <a:pt x="860298" y="396494"/>
                  </a:lnTo>
                  <a:cubicBezTo>
                    <a:pt x="860298" y="440309"/>
                    <a:pt x="824738" y="475869"/>
                    <a:pt x="780923" y="475869"/>
                  </a:cubicBezTo>
                  <a:lnTo>
                    <a:pt x="79375" y="475869"/>
                  </a:lnTo>
                  <a:cubicBezTo>
                    <a:pt x="35560" y="475869"/>
                    <a:pt x="0" y="440309"/>
                    <a:pt x="0" y="396494"/>
                  </a:cubicBezTo>
                  <a:close/>
                </a:path>
              </a:pathLst>
            </a:custGeom>
            <a:solidFill>
              <a:srgbClr val="F1EDFC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658882" y="4207240"/>
            <a:ext cx="645157" cy="274539"/>
            <a:chOff x="0" y="0"/>
            <a:chExt cx="860209" cy="3660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60208" cy="366046"/>
            </a:xfrm>
            <a:custGeom>
              <a:avLst/>
              <a:gdLst/>
              <a:ahLst/>
              <a:cxnLst/>
              <a:rect l="l" t="t" r="r" b="b"/>
              <a:pathLst>
                <a:path w="860208" h="366046">
                  <a:moveTo>
                    <a:pt x="0" y="0"/>
                  </a:moveTo>
                  <a:lnTo>
                    <a:pt x="860208" y="0"/>
                  </a:lnTo>
                  <a:lnTo>
                    <a:pt x="86020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8" r="-4598" b="-1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86020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7054C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09941" y="4269010"/>
            <a:ext cx="727520" cy="727520"/>
            <a:chOff x="0" y="0"/>
            <a:chExt cx="970026" cy="97002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70026" cy="970026"/>
            </a:xfrm>
            <a:custGeom>
              <a:avLst/>
              <a:gdLst/>
              <a:ahLst/>
              <a:cxnLst/>
              <a:rect l="l" t="t" r="r" b="b"/>
              <a:pathLst>
                <a:path w="970026" h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7054C7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509941" y="4365098"/>
            <a:ext cx="727520" cy="411804"/>
            <a:chOff x="0" y="0"/>
            <a:chExt cx="970026" cy="54907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70022" cy="549069"/>
            </a:xfrm>
            <a:custGeom>
              <a:avLst/>
              <a:gdLst/>
              <a:ahLst/>
              <a:cxnLst/>
              <a:rect l="l" t="t" r="r" b="b"/>
              <a:pathLst>
                <a:path w="970022" h="549069">
                  <a:moveTo>
                    <a:pt x="0" y="0"/>
                  </a:moveTo>
                  <a:lnTo>
                    <a:pt x="970022" y="0"/>
                  </a:lnTo>
                  <a:lnTo>
                    <a:pt x="9700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97002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2"/>
                </a:lnSpc>
              </a:pPr>
              <a:r>
                <a:rPr lang="en-US" sz="3152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⌕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470814" y="4241559"/>
            <a:ext cx="5449510" cy="370618"/>
            <a:chOff x="0" y="0"/>
            <a:chExt cx="7266013" cy="49415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266012" cy="494162"/>
            </a:xfrm>
            <a:custGeom>
              <a:avLst/>
              <a:gdLst/>
              <a:ahLst/>
              <a:cxnLst/>
              <a:rect l="l" t="t" r="r" b="b"/>
              <a:pathLst>
                <a:path w="7266012" h="494162">
                  <a:moveTo>
                    <a:pt x="0" y="0"/>
                  </a:moveTo>
                  <a:lnTo>
                    <a:pt x="7266012" y="0"/>
                  </a:lnTo>
                  <a:lnTo>
                    <a:pt x="7266012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6502" b="-23650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7266013" cy="494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0B35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Sharper Fraud Detection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470814" y="4680814"/>
            <a:ext cx="5449510" cy="384353"/>
            <a:chOff x="0" y="0"/>
            <a:chExt cx="7266013" cy="51247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266012" cy="512464"/>
            </a:xfrm>
            <a:custGeom>
              <a:avLst/>
              <a:gdLst/>
              <a:ahLst/>
              <a:cxnLst/>
              <a:rect l="l" t="t" r="r" b="b"/>
              <a:pathLst>
                <a:path w="7266012" h="512464">
                  <a:moveTo>
                    <a:pt x="0" y="0"/>
                  </a:moveTo>
                  <a:lnTo>
                    <a:pt x="7266012" y="0"/>
                  </a:lnTo>
                  <a:lnTo>
                    <a:pt x="726601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6269" b="-22627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726601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Catches tampering, fake docs &amp; forgeries.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10178" y="5369433"/>
            <a:ext cx="7737300" cy="1162193"/>
            <a:chOff x="0" y="0"/>
            <a:chExt cx="10316400" cy="154959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316464" cy="1549654"/>
            </a:xfrm>
            <a:custGeom>
              <a:avLst/>
              <a:gdLst/>
              <a:ahLst/>
              <a:cxnLst/>
              <a:rect l="l" t="t" r="r" b="b"/>
              <a:pathLst>
                <a:path w="10316464" h="1549654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58146" y="0"/>
                  </a:lnTo>
                  <a:cubicBezTo>
                    <a:pt x="10200767" y="0"/>
                    <a:pt x="10316464" y="115570"/>
                    <a:pt x="10316464" y="258318"/>
                  </a:cubicBezTo>
                  <a:lnTo>
                    <a:pt x="10316464" y="1291336"/>
                  </a:lnTo>
                  <a:cubicBezTo>
                    <a:pt x="10316464" y="1433957"/>
                    <a:pt x="10200894" y="1549654"/>
                    <a:pt x="10058146" y="1549654"/>
                  </a:cubicBezTo>
                  <a:lnTo>
                    <a:pt x="258318" y="1549654"/>
                  </a:lnTo>
                  <a:cubicBezTo>
                    <a:pt x="115570" y="1549654"/>
                    <a:pt x="0" y="1433957"/>
                    <a:pt x="0" y="1291336"/>
                  </a:cubicBezTo>
                  <a:close/>
                </a:path>
              </a:pathLst>
            </a:custGeom>
            <a:solidFill>
              <a:srgbClr val="C7E2FA">
                <a:alpha val="9804"/>
              </a:srgbClr>
            </a:solidFill>
            <a:ln w="22878" cap="sq">
              <a:solidFill>
                <a:srgbClr val="C7E9DF">
                  <a:alpha val="9804"/>
                </a:srgbClr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58882" y="5518137"/>
            <a:ext cx="645157" cy="356892"/>
            <a:chOff x="0" y="0"/>
            <a:chExt cx="860209" cy="47585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60298" cy="475869"/>
            </a:xfrm>
            <a:custGeom>
              <a:avLst/>
              <a:gdLst/>
              <a:ahLst/>
              <a:cxnLst/>
              <a:rect l="l" t="t" r="r" b="b"/>
              <a:pathLst>
                <a:path w="860298" h="47586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80923" y="0"/>
                  </a:lnTo>
                  <a:cubicBezTo>
                    <a:pt x="824738" y="0"/>
                    <a:pt x="860298" y="35560"/>
                    <a:pt x="860298" y="79375"/>
                  </a:cubicBezTo>
                  <a:lnTo>
                    <a:pt x="860298" y="396494"/>
                  </a:lnTo>
                  <a:cubicBezTo>
                    <a:pt x="860298" y="440309"/>
                    <a:pt x="824738" y="475869"/>
                    <a:pt x="780923" y="475869"/>
                  </a:cubicBezTo>
                  <a:lnTo>
                    <a:pt x="79375" y="475869"/>
                  </a:lnTo>
                  <a:cubicBezTo>
                    <a:pt x="35560" y="475869"/>
                    <a:pt x="0" y="440309"/>
                    <a:pt x="0" y="396494"/>
                  </a:cubicBezTo>
                  <a:close/>
                </a:path>
              </a:pathLst>
            </a:custGeom>
            <a:solidFill>
              <a:srgbClr val="EAF9F4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658882" y="5525005"/>
            <a:ext cx="645157" cy="274539"/>
            <a:chOff x="0" y="0"/>
            <a:chExt cx="860209" cy="36605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60208" cy="366046"/>
            </a:xfrm>
            <a:custGeom>
              <a:avLst/>
              <a:gdLst/>
              <a:ahLst/>
              <a:cxnLst/>
              <a:rect l="l" t="t" r="r" b="b"/>
              <a:pathLst>
                <a:path w="860208" h="366046">
                  <a:moveTo>
                    <a:pt x="0" y="0"/>
                  </a:moveTo>
                  <a:lnTo>
                    <a:pt x="860208" y="0"/>
                  </a:lnTo>
                  <a:lnTo>
                    <a:pt x="86020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8" r="-4598" b="-1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86020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16A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509941" y="5586774"/>
            <a:ext cx="727520" cy="727520"/>
            <a:chOff x="0" y="0"/>
            <a:chExt cx="970026" cy="97002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70026" cy="970026"/>
            </a:xfrm>
            <a:custGeom>
              <a:avLst/>
              <a:gdLst/>
              <a:ahLst/>
              <a:cxnLst/>
              <a:rect l="l" t="t" r="r" b="b"/>
              <a:pathLst>
                <a:path w="970026" h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509941" y="5751490"/>
            <a:ext cx="727520" cy="411804"/>
            <a:chOff x="0" y="0"/>
            <a:chExt cx="970026" cy="54907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70022" cy="549069"/>
            </a:xfrm>
            <a:custGeom>
              <a:avLst/>
              <a:gdLst/>
              <a:ahLst/>
              <a:cxnLst/>
              <a:rect l="l" t="t" r="r" b="b"/>
              <a:pathLst>
                <a:path w="970022" h="549069">
                  <a:moveTo>
                    <a:pt x="0" y="0"/>
                  </a:moveTo>
                  <a:lnTo>
                    <a:pt x="970022" y="0"/>
                  </a:lnTo>
                  <a:lnTo>
                    <a:pt x="9700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5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970026" cy="615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2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470814" y="5559323"/>
            <a:ext cx="5449510" cy="370618"/>
            <a:chOff x="0" y="0"/>
            <a:chExt cx="7266013" cy="49415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266012" cy="494162"/>
            </a:xfrm>
            <a:custGeom>
              <a:avLst/>
              <a:gdLst/>
              <a:ahLst/>
              <a:cxnLst/>
              <a:rect l="l" t="t" r="r" b="b"/>
              <a:pathLst>
                <a:path w="7266012" h="494162">
                  <a:moveTo>
                    <a:pt x="0" y="0"/>
                  </a:moveTo>
                  <a:lnTo>
                    <a:pt x="7266012" y="0"/>
                  </a:lnTo>
                  <a:lnTo>
                    <a:pt x="7266012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6502" b="-236501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7266013" cy="494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0B35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Standardized Screening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470814" y="5998578"/>
            <a:ext cx="5449510" cy="384353"/>
            <a:chOff x="0" y="0"/>
            <a:chExt cx="7266013" cy="51247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266012" cy="512464"/>
            </a:xfrm>
            <a:custGeom>
              <a:avLst/>
              <a:gdLst/>
              <a:ahLst/>
              <a:cxnLst/>
              <a:rect l="l" t="t" r="r" b="b"/>
              <a:pathLst>
                <a:path w="7266012" h="512464">
                  <a:moveTo>
                    <a:pt x="0" y="0"/>
                  </a:moveTo>
                  <a:lnTo>
                    <a:pt x="7266012" y="0"/>
                  </a:lnTo>
                  <a:lnTo>
                    <a:pt x="726601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6269" b="-22627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726601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Consistent, explainable scoring across checkpoints.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10178" y="6687198"/>
            <a:ext cx="7737300" cy="1162193"/>
            <a:chOff x="0" y="0"/>
            <a:chExt cx="10316400" cy="154959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316464" cy="1549654"/>
            </a:xfrm>
            <a:custGeom>
              <a:avLst/>
              <a:gdLst/>
              <a:ahLst/>
              <a:cxnLst/>
              <a:rect l="l" t="t" r="r" b="b"/>
              <a:pathLst>
                <a:path w="10316464" h="1549654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58146" y="0"/>
                  </a:lnTo>
                  <a:cubicBezTo>
                    <a:pt x="10200767" y="0"/>
                    <a:pt x="10316464" y="115570"/>
                    <a:pt x="10316464" y="258318"/>
                  </a:cubicBezTo>
                  <a:lnTo>
                    <a:pt x="10316464" y="1291336"/>
                  </a:lnTo>
                  <a:cubicBezTo>
                    <a:pt x="10316464" y="1433957"/>
                    <a:pt x="10200894" y="1549654"/>
                    <a:pt x="10058146" y="1549654"/>
                  </a:cubicBezTo>
                  <a:lnTo>
                    <a:pt x="258318" y="1549654"/>
                  </a:lnTo>
                  <a:cubicBezTo>
                    <a:pt x="115570" y="1549654"/>
                    <a:pt x="0" y="1433957"/>
                    <a:pt x="0" y="1291336"/>
                  </a:cubicBezTo>
                  <a:close/>
                </a:path>
              </a:pathLst>
            </a:custGeom>
            <a:solidFill>
              <a:srgbClr val="C7E2FA">
                <a:alpha val="9804"/>
              </a:srgbClr>
            </a:solidFill>
            <a:ln w="22878" cap="sq">
              <a:solidFill>
                <a:srgbClr val="D8CCF5">
                  <a:alpha val="9804"/>
                </a:srgbClr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58882" y="6835912"/>
            <a:ext cx="645157" cy="356892"/>
            <a:chOff x="0" y="0"/>
            <a:chExt cx="860209" cy="47585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60298" cy="475869"/>
            </a:xfrm>
            <a:custGeom>
              <a:avLst/>
              <a:gdLst/>
              <a:ahLst/>
              <a:cxnLst/>
              <a:rect l="l" t="t" r="r" b="b"/>
              <a:pathLst>
                <a:path w="860298" h="47586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80923" y="0"/>
                  </a:lnTo>
                  <a:cubicBezTo>
                    <a:pt x="824738" y="0"/>
                    <a:pt x="860298" y="35560"/>
                    <a:pt x="860298" y="79375"/>
                  </a:cubicBezTo>
                  <a:lnTo>
                    <a:pt x="860298" y="396494"/>
                  </a:lnTo>
                  <a:cubicBezTo>
                    <a:pt x="860298" y="440309"/>
                    <a:pt x="824738" y="475869"/>
                    <a:pt x="780923" y="475869"/>
                  </a:cubicBezTo>
                  <a:lnTo>
                    <a:pt x="79375" y="475869"/>
                  </a:lnTo>
                  <a:cubicBezTo>
                    <a:pt x="35560" y="475869"/>
                    <a:pt x="0" y="440309"/>
                    <a:pt x="0" y="396494"/>
                  </a:cubicBezTo>
                  <a:close/>
                </a:path>
              </a:pathLst>
            </a:custGeom>
            <a:solidFill>
              <a:srgbClr val="F1EDFC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658882" y="6842770"/>
            <a:ext cx="645157" cy="274539"/>
            <a:chOff x="0" y="0"/>
            <a:chExt cx="860209" cy="36605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60208" cy="366046"/>
            </a:xfrm>
            <a:custGeom>
              <a:avLst/>
              <a:gdLst/>
              <a:ahLst/>
              <a:cxnLst/>
              <a:rect l="l" t="t" r="r" b="b"/>
              <a:pathLst>
                <a:path w="860208" h="366046">
                  <a:moveTo>
                    <a:pt x="0" y="0"/>
                  </a:moveTo>
                  <a:lnTo>
                    <a:pt x="860208" y="0"/>
                  </a:lnTo>
                  <a:lnTo>
                    <a:pt x="86020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8" r="-4598" b="-1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0"/>
              <a:ext cx="86020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7054C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509941" y="6904539"/>
            <a:ext cx="727520" cy="727520"/>
            <a:chOff x="0" y="0"/>
            <a:chExt cx="970026" cy="97002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70026" cy="970026"/>
            </a:xfrm>
            <a:custGeom>
              <a:avLst/>
              <a:gdLst/>
              <a:ahLst/>
              <a:cxnLst/>
              <a:rect l="l" t="t" r="r" b="b"/>
              <a:pathLst>
                <a:path w="970026" h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7054C7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1509941" y="7065026"/>
            <a:ext cx="727520" cy="411804"/>
            <a:chOff x="0" y="0"/>
            <a:chExt cx="970026" cy="54907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70022" cy="549069"/>
            </a:xfrm>
            <a:custGeom>
              <a:avLst/>
              <a:gdLst/>
              <a:ahLst/>
              <a:cxnLst/>
              <a:rect l="l" t="t" r="r" b="b"/>
              <a:pathLst>
                <a:path w="970022" h="549069">
                  <a:moveTo>
                    <a:pt x="0" y="0"/>
                  </a:moveTo>
                  <a:lnTo>
                    <a:pt x="970022" y="0"/>
                  </a:lnTo>
                  <a:lnTo>
                    <a:pt x="9700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5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66675"/>
              <a:ext cx="970026" cy="615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2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▤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470814" y="6877088"/>
            <a:ext cx="5449510" cy="370618"/>
            <a:chOff x="0" y="0"/>
            <a:chExt cx="7266013" cy="494157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266012" cy="494162"/>
            </a:xfrm>
            <a:custGeom>
              <a:avLst/>
              <a:gdLst/>
              <a:ahLst/>
              <a:cxnLst/>
              <a:rect l="l" t="t" r="r" b="b"/>
              <a:pathLst>
                <a:path w="7266012" h="494162">
                  <a:moveTo>
                    <a:pt x="0" y="0"/>
                  </a:moveTo>
                  <a:lnTo>
                    <a:pt x="7266012" y="0"/>
                  </a:lnTo>
                  <a:lnTo>
                    <a:pt x="7266012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6502" b="-236501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7266013" cy="494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0B35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Scalable Under Load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2470814" y="7316343"/>
            <a:ext cx="5449510" cy="384353"/>
            <a:chOff x="0" y="0"/>
            <a:chExt cx="7266013" cy="51247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7266012" cy="512464"/>
            </a:xfrm>
            <a:custGeom>
              <a:avLst/>
              <a:gdLst/>
              <a:ahLst/>
              <a:cxnLst/>
              <a:rect l="l" t="t" r="r" b="b"/>
              <a:pathLst>
                <a:path w="7266012" h="512464">
                  <a:moveTo>
                    <a:pt x="0" y="0"/>
                  </a:moveTo>
                  <a:lnTo>
                    <a:pt x="7266012" y="0"/>
                  </a:lnTo>
                  <a:lnTo>
                    <a:pt x="726601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6269" b="-226270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726601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Kafka-driven throughput for peak travel periods.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050247" y="2733904"/>
            <a:ext cx="7737300" cy="1162193"/>
            <a:chOff x="0" y="0"/>
            <a:chExt cx="10316400" cy="154959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0316464" cy="1549654"/>
            </a:xfrm>
            <a:custGeom>
              <a:avLst/>
              <a:gdLst/>
              <a:ahLst/>
              <a:cxnLst/>
              <a:rect l="l" t="t" r="r" b="b"/>
              <a:pathLst>
                <a:path w="10316464" h="1549654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58146" y="0"/>
                  </a:lnTo>
                  <a:cubicBezTo>
                    <a:pt x="10200767" y="0"/>
                    <a:pt x="10316464" y="115570"/>
                    <a:pt x="10316464" y="258318"/>
                  </a:cubicBezTo>
                  <a:lnTo>
                    <a:pt x="10316464" y="1291336"/>
                  </a:lnTo>
                  <a:cubicBezTo>
                    <a:pt x="10316464" y="1433957"/>
                    <a:pt x="10200894" y="1549654"/>
                    <a:pt x="10058146" y="1549654"/>
                  </a:cubicBezTo>
                  <a:lnTo>
                    <a:pt x="258318" y="1549654"/>
                  </a:lnTo>
                  <a:cubicBezTo>
                    <a:pt x="115570" y="1549654"/>
                    <a:pt x="0" y="1433957"/>
                    <a:pt x="0" y="1291336"/>
                  </a:cubicBezTo>
                  <a:close/>
                </a:path>
              </a:pathLst>
            </a:custGeom>
            <a:solidFill>
              <a:srgbClr val="7ED957">
                <a:alpha val="784"/>
              </a:srgbClr>
            </a:solidFill>
            <a:ln w="22878" cap="sq">
              <a:solidFill>
                <a:srgbClr val="C7E9DF">
                  <a:alpha val="784"/>
                </a:srgbClr>
              </a:solidFill>
              <a:prstDash val="solid"/>
              <a:miter/>
            </a:ln>
          </p:spPr>
        </p:sp>
      </p:grpSp>
      <p:grpSp>
        <p:nvGrpSpPr>
          <p:cNvPr id="94" name="Group 94"/>
          <p:cNvGrpSpPr/>
          <p:nvPr/>
        </p:nvGrpSpPr>
        <p:grpSpPr>
          <a:xfrm>
            <a:off x="10198960" y="2882608"/>
            <a:ext cx="645157" cy="356892"/>
            <a:chOff x="0" y="0"/>
            <a:chExt cx="860209" cy="47585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60298" cy="475869"/>
            </a:xfrm>
            <a:custGeom>
              <a:avLst/>
              <a:gdLst/>
              <a:ahLst/>
              <a:cxnLst/>
              <a:rect l="l" t="t" r="r" b="b"/>
              <a:pathLst>
                <a:path w="860298" h="47586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80923" y="0"/>
                  </a:lnTo>
                  <a:cubicBezTo>
                    <a:pt x="824738" y="0"/>
                    <a:pt x="860298" y="35560"/>
                    <a:pt x="860298" y="79375"/>
                  </a:cubicBezTo>
                  <a:lnTo>
                    <a:pt x="860298" y="396494"/>
                  </a:lnTo>
                  <a:cubicBezTo>
                    <a:pt x="860298" y="440309"/>
                    <a:pt x="824738" y="475869"/>
                    <a:pt x="780923" y="475869"/>
                  </a:cubicBezTo>
                  <a:lnTo>
                    <a:pt x="79375" y="475869"/>
                  </a:lnTo>
                  <a:cubicBezTo>
                    <a:pt x="35560" y="475869"/>
                    <a:pt x="0" y="440309"/>
                    <a:pt x="0" y="396494"/>
                  </a:cubicBezTo>
                  <a:close/>
                </a:path>
              </a:pathLst>
            </a:custGeom>
            <a:solidFill>
              <a:srgbClr val="EAF9F4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0198960" y="2889475"/>
            <a:ext cx="645157" cy="274539"/>
            <a:chOff x="0" y="0"/>
            <a:chExt cx="860209" cy="366052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60208" cy="366046"/>
            </a:xfrm>
            <a:custGeom>
              <a:avLst/>
              <a:gdLst/>
              <a:ahLst/>
              <a:cxnLst/>
              <a:rect l="l" t="t" r="r" b="b"/>
              <a:pathLst>
                <a:path w="860208" h="366046">
                  <a:moveTo>
                    <a:pt x="0" y="0"/>
                  </a:moveTo>
                  <a:lnTo>
                    <a:pt x="860208" y="0"/>
                  </a:lnTo>
                  <a:lnTo>
                    <a:pt x="86020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8" r="-4598" b="-1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86020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16A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1050010" y="2951245"/>
            <a:ext cx="727520" cy="727520"/>
            <a:chOff x="0" y="0"/>
            <a:chExt cx="970026" cy="970026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970026" cy="970026"/>
            </a:xfrm>
            <a:custGeom>
              <a:avLst/>
              <a:gdLst/>
              <a:ahLst/>
              <a:cxnLst/>
              <a:rect l="l" t="t" r="r" b="b"/>
              <a:pathLst>
                <a:path w="970026" h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11044142" y="3157147"/>
            <a:ext cx="727520" cy="411804"/>
            <a:chOff x="0" y="0"/>
            <a:chExt cx="970026" cy="54907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70022" cy="549069"/>
            </a:xfrm>
            <a:custGeom>
              <a:avLst/>
              <a:gdLst/>
              <a:ahLst/>
              <a:cxnLst/>
              <a:rect l="l" t="t" r="r" b="b"/>
              <a:pathLst>
                <a:path w="970022" h="549069">
                  <a:moveTo>
                    <a:pt x="0" y="0"/>
                  </a:moveTo>
                  <a:lnTo>
                    <a:pt x="970022" y="0"/>
                  </a:lnTo>
                  <a:lnTo>
                    <a:pt x="9700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5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66675"/>
              <a:ext cx="970026" cy="615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2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▥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2010882" y="2923794"/>
            <a:ext cx="5449510" cy="370618"/>
            <a:chOff x="0" y="0"/>
            <a:chExt cx="7266013" cy="494157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7266012" cy="494162"/>
            </a:xfrm>
            <a:custGeom>
              <a:avLst/>
              <a:gdLst/>
              <a:ahLst/>
              <a:cxnLst/>
              <a:rect l="l" t="t" r="r" b="b"/>
              <a:pathLst>
                <a:path w="7266012" h="494162">
                  <a:moveTo>
                    <a:pt x="0" y="0"/>
                  </a:moveTo>
                  <a:lnTo>
                    <a:pt x="7266012" y="0"/>
                  </a:lnTo>
                  <a:lnTo>
                    <a:pt x="7266012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6502" b="-236501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0"/>
              <a:ext cx="7266013" cy="494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0B35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Data-Driven Risk Assessment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2010882" y="3363049"/>
            <a:ext cx="5449510" cy="384353"/>
            <a:chOff x="0" y="0"/>
            <a:chExt cx="7266013" cy="51247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7266012" cy="512464"/>
            </a:xfrm>
            <a:custGeom>
              <a:avLst/>
              <a:gdLst/>
              <a:ahLst/>
              <a:cxnLst/>
              <a:rect l="l" t="t" r="r" b="b"/>
              <a:pathLst>
                <a:path w="7266012" h="512464">
                  <a:moveTo>
                    <a:pt x="0" y="0"/>
                  </a:moveTo>
                  <a:lnTo>
                    <a:pt x="7266012" y="0"/>
                  </a:lnTo>
                  <a:lnTo>
                    <a:pt x="726601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6269" b="-226270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0"/>
              <a:ext cx="726601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Quantified score (0–100) + key factors.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050247" y="4051668"/>
            <a:ext cx="7737300" cy="1162193"/>
            <a:chOff x="0" y="0"/>
            <a:chExt cx="10316400" cy="154959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0316464" cy="1549654"/>
            </a:xfrm>
            <a:custGeom>
              <a:avLst/>
              <a:gdLst/>
              <a:ahLst/>
              <a:cxnLst/>
              <a:rect l="l" t="t" r="r" b="b"/>
              <a:pathLst>
                <a:path w="10316464" h="1549654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58146" y="0"/>
                  </a:lnTo>
                  <a:cubicBezTo>
                    <a:pt x="10200767" y="0"/>
                    <a:pt x="10316464" y="115570"/>
                    <a:pt x="10316464" y="258318"/>
                  </a:cubicBezTo>
                  <a:lnTo>
                    <a:pt x="10316464" y="1291336"/>
                  </a:lnTo>
                  <a:cubicBezTo>
                    <a:pt x="10316464" y="1433957"/>
                    <a:pt x="10200894" y="1549654"/>
                    <a:pt x="10058146" y="1549654"/>
                  </a:cubicBezTo>
                  <a:lnTo>
                    <a:pt x="258318" y="1549654"/>
                  </a:lnTo>
                  <a:cubicBezTo>
                    <a:pt x="115570" y="1549654"/>
                    <a:pt x="0" y="1433957"/>
                    <a:pt x="0" y="1291336"/>
                  </a:cubicBezTo>
                  <a:close/>
                </a:path>
              </a:pathLst>
            </a:custGeom>
            <a:solidFill>
              <a:srgbClr val="7ED957">
                <a:alpha val="1961"/>
              </a:srgbClr>
            </a:solidFill>
            <a:ln w="22878" cap="sq">
              <a:solidFill>
                <a:srgbClr val="C7E2FA">
                  <a:alpha val="1961"/>
                </a:srgbClr>
              </a:solidFill>
              <a:prstDash val="solid"/>
              <a:miter/>
            </a:ln>
          </p:spPr>
        </p:sp>
      </p:grpSp>
      <p:grpSp>
        <p:nvGrpSpPr>
          <p:cNvPr id="112" name="Group 112"/>
          <p:cNvGrpSpPr/>
          <p:nvPr/>
        </p:nvGrpSpPr>
        <p:grpSpPr>
          <a:xfrm>
            <a:off x="10198960" y="4200382"/>
            <a:ext cx="645157" cy="356892"/>
            <a:chOff x="0" y="0"/>
            <a:chExt cx="860209" cy="47585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860298" cy="475869"/>
            </a:xfrm>
            <a:custGeom>
              <a:avLst/>
              <a:gdLst/>
              <a:ahLst/>
              <a:cxnLst/>
              <a:rect l="l" t="t" r="r" b="b"/>
              <a:pathLst>
                <a:path w="860298" h="47586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80923" y="0"/>
                  </a:lnTo>
                  <a:cubicBezTo>
                    <a:pt x="824738" y="0"/>
                    <a:pt x="860298" y="35560"/>
                    <a:pt x="860298" y="79375"/>
                  </a:cubicBezTo>
                  <a:lnTo>
                    <a:pt x="860298" y="396494"/>
                  </a:lnTo>
                  <a:cubicBezTo>
                    <a:pt x="860298" y="440309"/>
                    <a:pt x="824738" y="475869"/>
                    <a:pt x="780923" y="475869"/>
                  </a:cubicBezTo>
                  <a:lnTo>
                    <a:pt x="79375" y="475869"/>
                  </a:lnTo>
                  <a:cubicBezTo>
                    <a:pt x="35560" y="475869"/>
                    <a:pt x="0" y="440309"/>
                    <a:pt x="0" y="396494"/>
                  </a:cubicBezTo>
                  <a:close/>
                </a:path>
              </a:pathLst>
            </a:custGeom>
            <a:solidFill>
              <a:srgbClr val="EAF5FF"/>
            </a:solidFill>
          </p:spPr>
        </p:sp>
      </p:grpSp>
      <p:grpSp>
        <p:nvGrpSpPr>
          <p:cNvPr id="114" name="Group 114"/>
          <p:cNvGrpSpPr/>
          <p:nvPr/>
        </p:nvGrpSpPr>
        <p:grpSpPr>
          <a:xfrm>
            <a:off x="10198960" y="4207240"/>
            <a:ext cx="645157" cy="274539"/>
            <a:chOff x="0" y="0"/>
            <a:chExt cx="860209" cy="366052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860208" cy="366046"/>
            </a:xfrm>
            <a:custGeom>
              <a:avLst/>
              <a:gdLst/>
              <a:ahLst/>
              <a:cxnLst/>
              <a:rect l="l" t="t" r="r" b="b"/>
              <a:pathLst>
                <a:path w="860208" h="366046">
                  <a:moveTo>
                    <a:pt x="0" y="0"/>
                  </a:moveTo>
                  <a:lnTo>
                    <a:pt x="860208" y="0"/>
                  </a:lnTo>
                  <a:lnTo>
                    <a:pt x="86020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8" r="-4598" b="-1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0"/>
              <a:ext cx="86020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168CB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1050010" y="4269010"/>
            <a:ext cx="727520" cy="727520"/>
            <a:chOff x="0" y="0"/>
            <a:chExt cx="970026" cy="970026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970026" cy="970026"/>
            </a:xfrm>
            <a:custGeom>
              <a:avLst/>
              <a:gdLst/>
              <a:ahLst/>
              <a:cxnLst/>
              <a:rect l="l" t="t" r="r" b="b"/>
              <a:pathLst>
                <a:path w="970026" h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168CB8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11050010" y="4365098"/>
            <a:ext cx="727520" cy="411804"/>
            <a:chOff x="0" y="0"/>
            <a:chExt cx="970026" cy="549072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970022" cy="549069"/>
            </a:xfrm>
            <a:custGeom>
              <a:avLst/>
              <a:gdLst/>
              <a:ahLst/>
              <a:cxnLst/>
              <a:rect l="l" t="t" r="r" b="b"/>
              <a:pathLst>
                <a:path w="970022" h="549069">
                  <a:moveTo>
                    <a:pt x="0" y="0"/>
                  </a:moveTo>
                  <a:lnTo>
                    <a:pt x="970022" y="0"/>
                  </a:lnTo>
                  <a:lnTo>
                    <a:pt x="9700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5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0"/>
              <a:ext cx="97002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2"/>
                </a:lnSpc>
              </a:pPr>
              <a:r>
                <a:rPr lang="en-US" sz="3152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⌕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2010882" y="4241559"/>
            <a:ext cx="5449510" cy="370618"/>
            <a:chOff x="0" y="0"/>
            <a:chExt cx="7266013" cy="494157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7266012" cy="494162"/>
            </a:xfrm>
            <a:custGeom>
              <a:avLst/>
              <a:gdLst/>
              <a:ahLst/>
              <a:cxnLst/>
              <a:rect l="l" t="t" r="r" b="b"/>
              <a:pathLst>
                <a:path w="7266012" h="494162">
                  <a:moveTo>
                    <a:pt x="0" y="0"/>
                  </a:moveTo>
                  <a:lnTo>
                    <a:pt x="7266012" y="0"/>
                  </a:lnTo>
                  <a:lnTo>
                    <a:pt x="7266012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6502" b="-236501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0"/>
              <a:ext cx="7266013" cy="494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0B35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Investigation Trail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2010882" y="4680814"/>
            <a:ext cx="5449510" cy="384353"/>
            <a:chOff x="0" y="0"/>
            <a:chExt cx="7266013" cy="51247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7266012" cy="512464"/>
            </a:xfrm>
            <a:custGeom>
              <a:avLst/>
              <a:gdLst/>
              <a:ahLst/>
              <a:cxnLst/>
              <a:rect l="l" t="t" r="r" b="b"/>
              <a:pathLst>
                <a:path w="7266012" h="512464">
                  <a:moveTo>
                    <a:pt x="0" y="0"/>
                  </a:moveTo>
                  <a:lnTo>
                    <a:pt x="7266012" y="0"/>
                  </a:lnTo>
                  <a:lnTo>
                    <a:pt x="726601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6269" b="-226270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0"/>
              <a:ext cx="726601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OCR, checks, signals, score &amp; decision → replayable.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0050247" y="5369433"/>
            <a:ext cx="7737300" cy="1162193"/>
            <a:chOff x="0" y="0"/>
            <a:chExt cx="10316400" cy="154959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10316464" cy="1549654"/>
            </a:xfrm>
            <a:custGeom>
              <a:avLst/>
              <a:gdLst/>
              <a:ahLst/>
              <a:cxnLst/>
              <a:rect l="l" t="t" r="r" b="b"/>
              <a:pathLst>
                <a:path w="10316464" h="1549654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58146" y="0"/>
                  </a:lnTo>
                  <a:cubicBezTo>
                    <a:pt x="10200767" y="0"/>
                    <a:pt x="10316464" y="115570"/>
                    <a:pt x="10316464" y="258318"/>
                  </a:cubicBezTo>
                  <a:lnTo>
                    <a:pt x="10316464" y="1291336"/>
                  </a:lnTo>
                  <a:cubicBezTo>
                    <a:pt x="10316464" y="1433957"/>
                    <a:pt x="10200894" y="1549654"/>
                    <a:pt x="10058146" y="1549654"/>
                  </a:cubicBezTo>
                  <a:lnTo>
                    <a:pt x="258318" y="1549654"/>
                  </a:lnTo>
                  <a:cubicBezTo>
                    <a:pt x="115570" y="1549654"/>
                    <a:pt x="0" y="1433957"/>
                    <a:pt x="0" y="1291336"/>
                  </a:cubicBezTo>
                  <a:close/>
                </a:path>
              </a:pathLst>
            </a:custGeom>
            <a:solidFill>
              <a:srgbClr val="7054C7">
                <a:alpha val="1961"/>
              </a:srgbClr>
            </a:solidFill>
            <a:ln w="22878" cap="sq">
              <a:solidFill>
                <a:srgbClr val="D8CCF5">
                  <a:alpha val="1961"/>
                </a:srgbClr>
              </a:solidFill>
              <a:prstDash val="solid"/>
              <a:miter/>
            </a:ln>
          </p:spPr>
        </p:sp>
      </p:grpSp>
      <p:grpSp>
        <p:nvGrpSpPr>
          <p:cNvPr id="130" name="Group 130"/>
          <p:cNvGrpSpPr/>
          <p:nvPr/>
        </p:nvGrpSpPr>
        <p:grpSpPr>
          <a:xfrm>
            <a:off x="10198960" y="5518137"/>
            <a:ext cx="645157" cy="356892"/>
            <a:chOff x="0" y="0"/>
            <a:chExt cx="860209" cy="475856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860298" cy="475869"/>
            </a:xfrm>
            <a:custGeom>
              <a:avLst/>
              <a:gdLst/>
              <a:ahLst/>
              <a:cxnLst/>
              <a:rect l="l" t="t" r="r" b="b"/>
              <a:pathLst>
                <a:path w="860298" h="47586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80923" y="0"/>
                  </a:lnTo>
                  <a:cubicBezTo>
                    <a:pt x="824738" y="0"/>
                    <a:pt x="860298" y="35560"/>
                    <a:pt x="860298" y="79375"/>
                  </a:cubicBezTo>
                  <a:lnTo>
                    <a:pt x="860298" y="396494"/>
                  </a:lnTo>
                  <a:cubicBezTo>
                    <a:pt x="860298" y="440309"/>
                    <a:pt x="824738" y="475869"/>
                    <a:pt x="780923" y="475869"/>
                  </a:cubicBezTo>
                  <a:lnTo>
                    <a:pt x="79375" y="475869"/>
                  </a:lnTo>
                  <a:cubicBezTo>
                    <a:pt x="35560" y="475869"/>
                    <a:pt x="0" y="440309"/>
                    <a:pt x="0" y="396494"/>
                  </a:cubicBezTo>
                  <a:close/>
                </a:path>
              </a:pathLst>
            </a:custGeom>
            <a:solidFill>
              <a:srgbClr val="F1EDFC"/>
            </a:solidFill>
          </p:spPr>
        </p:sp>
      </p:grpSp>
      <p:grpSp>
        <p:nvGrpSpPr>
          <p:cNvPr id="132" name="Group 132"/>
          <p:cNvGrpSpPr/>
          <p:nvPr/>
        </p:nvGrpSpPr>
        <p:grpSpPr>
          <a:xfrm>
            <a:off x="10198960" y="5525005"/>
            <a:ext cx="645157" cy="274539"/>
            <a:chOff x="0" y="0"/>
            <a:chExt cx="860209" cy="366052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860208" cy="366046"/>
            </a:xfrm>
            <a:custGeom>
              <a:avLst/>
              <a:gdLst/>
              <a:ahLst/>
              <a:cxnLst/>
              <a:rect l="l" t="t" r="r" b="b"/>
              <a:pathLst>
                <a:path w="860208" h="366046">
                  <a:moveTo>
                    <a:pt x="0" y="0"/>
                  </a:moveTo>
                  <a:lnTo>
                    <a:pt x="860208" y="0"/>
                  </a:lnTo>
                  <a:lnTo>
                    <a:pt x="86020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8" r="-4598" b="-1"/>
              </a:stretch>
            </a:blipFill>
          </p:spPr>
        </p:sp>
        <p:sp>
          <p:nvSpPr>
            <p:cNvPr id="134" name="TextBox 134"/>
            <p:cNvSpPr txBox="1"/>
            <p:nvPr/>
          </p:nvSpPr>
          <p:spPr>
            <a:xfrm>
              <a:off x="0" y="0"/>
              <a:ext cx="86020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7054C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1050010" y="5586774"/>
            <a:ext cx="727520" cy="727520"/>
            <a:chOff x="0" y="0"/>
            <a:chExt cx="970026" cy="970026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970026" cy="970026"/>
            </a:xfrm>
            <a:custGeom>
              <a:avLst/>
              <a:gdLst/>
              <a:ahLst/>
              <a:cxnLst/>
              <a:rect l="l" t="t" r="r" b="b"/>
              <a:pathLst>
                <a:path w="970026" h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7054C7"/>
            </a:solidFill>
          </p:spPr>
        </p:sp>
      </p:grpSp>
      <p:grpSp>
        <p:nvGrpSpPr>
          <p:cNvPr id="137" name="Group 137"/>
          <p:cNvGrpSpPr/>
          <p:nvPr/>
        </p:nvGrpSpPr>
        <p:grpSpPr>
          <a:xfrm>
            <a:off x="11050010" y="5766311"/>
            <a:ext cx="727520" cy="411804"/>
            <a:chOff x="0" y="0"/>
            <a:chExt cx="970026" cy="549072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970022" cy="549069"/>
            </a:xfrm>
            <a:custGeom>
              <a:avLst/>
              <a:gdLst/>
              <a:ahLst/>
              <a:cxnLst/>
              <a:rect l="l" t="t" r="r" b="b"/>
              <a:pathLst>
                <a:path w="970022" h="549069">
                  <a:moveTo>
                    <a:pt x="0" y="0"/>
                  </a:moveTo>
                  <a:lnTo>
                    <a:pt x="970022" y="0"/>
                  </a:lnTo>
                  <a:lnTo>
                    <a:pt x="9700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5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-66675"/>
              <a:ext cx="970026" cy="615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2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2010882" y="5559323"/>
            <a:ext cx="5449510" cy="370618"/>
            <a:chOff x="0" y="0"/>
            <a:chExt cx="7266013" cy="494157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7266012" cy="494162"/>
            </a:xfrm>
            <a:custGeom>
              <a:avLst/>
              <a:gdLst/>
              <a:ahLst/>
              <a:cxnLst/>
              <a:rect l="l" t="t" r="r" b="b"/>
              <a:pathLst>
                <a:path w="7266012" h="494162">
                  <a:moveTo>
                    <a:pt x="0" y="0"/>
                  </a:moveTo>
                  <a:lnTo>
                    <a:pt x="7266012" y="0"/>
                  </a:lnTo>
                  <a:lnTo>
                    <a:pt x="7266012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6502" b="-236501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0"/>
              <a:ext cx="7266013" cy="494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0B35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Fraud Deterrence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2010882" y="5998578"/>
            <a:ext cx="5449510" cy="384353"/>
            <a:chOff x="0" y="0"/>
            <a:chExt cx="7266013" cy="51247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7266012" cy="512464"/>
            </a:xfrm>
            <a:custGeom>
              <a:avLst/>
              <a:gdLst/>
              <a:ahLst/>
              <a:cxnLst/>
              <a:rect l="l" t="t" r="r" b="b"/>
              <a:pathLst>
                <a:path w="7266012" h="512464">
                  <a:moveTo>
                    <a:pt x="0" y="0"/>
                  </a:moveTo>
                  <a:lnTo>
                    <a:pt x="7266012" y="0"/>
                  </a:lnTo>
                  <a:lnTo>
                    <a:pt x="726601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6269" b="-226270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0"/>
              <a:ext cx="726601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Multi-signal checks make fraud harder to pull off.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0050247" y="6687198"/>
            <a:ext cx="7737300" cy="1162193"/>
            <a:chOff x="0" y="0"/>
            <a:chExt cx="10316400" cy="154959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10316464" cy="1549654"/>
            </a:xfrm>
            <a:custGeom>
              <a:avLst/>
              <a:gdLst/>
              <a:ahLst/>
              <a:cxnLst/>
              <a:rect l="l" t="t" r="r" b="b"/>
              <a:pathLst>
                <a:path w="10316464" h="1549654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58146" y="0"/>
                  </a:lnTo>
                  <a:cubicBezTo>
                    <a:pt x="10200767" y="0"/>
                    <a:pt x="10316464" y="115570"/>
                    <a:pt x="10316464" y="258318"/>
                  </a:cubicBezTo>
                  <a:lnTo>
                    <a:pt x="10316464" y="1291336"/>
                  </a:lnTo>
                  <a:cubicBezTo>
                    <a:pt x="10316464" y="1433957"/>
                    <a:pt x="10200894" y="1549654"/>
                    <a:pt x="10058146" y="1549654"/>
                  </a:cubicBezTo>
                  <a:lnTo>
                    <a:pt x="258318" y="1549654"/>
                  </a:lnTo>
                  <a:cubicBezTo>
                    <a:pt x="115570" y="1549654"/>
                    <a:pt x="0" y="1433957"/>
                    <a:pt x="0" y="1291336"/>
                  </a:cubicBezTo>
                  <a:close/>
                </a:path>
              </a:pathLst>
            </a:custGeom>
            <a:solidFill>
              <a:srgbClr val="7ED957">
                <a:alpha val="784"/>
              </a:srgbClr>
            </a:solidFill>
            <a:ln w="22878" cap="sq">
              <a:solidFill>
                <a:srgbClr val="C7E9DF">
                  <a:alpha val="784"/>
                </a:srgbClr>
              </a:solidFill>
              <a:prstDash val="solid"/>
              <a:miter/>
            </a:ln>
          </p:spPr>
        </p:sp>
      </p:grpSp>
      <p:grpSp>
        <p:nvGrpSpPr>
          <p:cNvPr id="148" name="Group 148"/>
          <p:cNvGrpSpPr/>
          <p:nvPr/>
        </p:nvGrpSpPr>
        <p:grpSpPr>
          <a:xfrm>
            <a:off x="10198960" y="6835912"/>
            <a:ext cx="645157" cy="356892"/>
            <a:chOff x="0" y="0"/>
            <a:chExt cx="860209" cy="475856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860298" cy="475869"/>
            </a:xfrm>
            <a:custGeom>
              <a:avLst/>
              <a:gdLst/>
              <a:ahLst/>
              <a:cxnLst/>
              <a:rect l="l" t="t" r="r" b="b"/>
              <a:pathLst>
                <a:path w="860298" h="47586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80923" y="0"/>
                  </a:lnTo>
                  <a:cubicBezTo>
                    <a:pt x="824738" y="0"/>
                    <a:pt x="860298" y="35560"/>
                    <a:pt x="860298" y="79375"/>
                  </a:cubicBezTo>
                  <a:lnTo>
                    <a:pt x="860298" y="396494"/>
                  </a:lnTo>
                  <a:cubicBezTo>
                    <a:pt x="860298" y="440309"/>
                    <a:pt x="824738" y="475869"/>
                    <a:pt x="780923" y="475869"/>
                  </a:cubicBezTo>
                  <a:lnTo>
                    <a:pt x="79375" y="475869"/>
                  </a:lnTo>
                  <a:cubicBezTo>
                    <a:pt x="35560" y="475869"/>
                    <a:pt x="0" y="440309"/>
                    <a:pt x="0" y="396494"/>
                  </a:cubicBezTo>
                  <a:close/>
                </a:path>
              </a:pathLst>
            </a:custGeom>
            <a:solidFill>
              <a:srgbClr val="EAF9F4"/>
            </a:solidFill>
          </p:spPr>
        </p:sp>
      </p:grpSp>
      <p:grpSp>
        <p:nvGrpSpPr>
          <p:cNvPr id="150" name="Group 150"/>
          <p:cNvGrpSpPr/>
          <p:nvPr/>
        </p:nvGrpSpPr>
        <p:grpSpPr>
          <a:xfrm>
            <a:off x="10198960" y="6842770"/>
            <a:ext cx="645157" cy="274539"/>
            <a:chOff x="0" y="0"/>
            <a:chExt cx="860209" cy="366052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860208" cy="366046"/>
            </a:xfrm>
            <a:custGeom>
              <a:avLst/>
              <a:gdLst/>
              <a:ahLst/>
              <a:cxnLst/>
              <a:rect l="l" t="t" r="r" b="b"/>
              <a:pathLst>
                <a:path w="860208" h="366046">
                  <a:moveTo>
                    <a:pt x="0" y="0"/>
                  </a:moveTo>
                  <a:lnTo>
                    <a:pt x="860208" y="0"/>
                  </a:lnTo>
                  <a:lnTo>
                    <a:pt x="86020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8" r="-4598" b="-1"/>
              </a:stretch>
            </a:blipFill>
          </p:spPr>
        </p:sp>
        <p:sp>
          <p:nvSpPr>
            <p:cNvPr id="152" name="TextBox 152"/>
            <p:cNvSpPr txBox="1"/>
            <p:nvPr/>
          </p:nvSpPr>
          <p:spPr>
            <a:xfrm>
              <a:off x="0" y="0"/>
              <a:ext cx="86020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16A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</a:t>
              </a: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11050010" y="6904539"/>
            <a:ext cx="727520" cy="727520"/>
            <a:chOff x="0" y="0"/>
            <a:chExt cx="970026" cy="970026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970026" cy="970026"/>
            </a:xfrm>
            <a:custGeom>
              <a:avLst/>
              <a:gdLst/>
              <a:ahLst/>
              <a:cxnLst/>
              <a:rect l="l" t="t" r="r" b="b"/>
              <a:pathLst>
                <a:path w="970026" h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id="155" name="Group 155"/>
          <p:cNvGrpSpPr/>
          <p:nvPr/>
        </p:nvGrpSpPr>
        <p:grpSpPr>
          <a:xfrm>
            <a:off x="11050010" y="7084076"/>
            <a:ext cx="727520" cy="411804"/>
            <a:chOff x="0" y="0"/>
            <a:chExt cx="970026" cy="549072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970022" cy="549069"/>
            </a:xfrm>
            <a:custGeom>
              <a:avLst/>
              <a:gdLst/>
              <a:ahLst/>
              <a:cxnLst/>
              <a:rect l="l" t="t" r="r" b="b"/>
              <a:pathLst>
                <a:path w="970022" h="549069">
                  <a:moveTo>
                    <a:pt x="0" y="0"/>
                  </a:moveTo>
                  <a:lnTo>
                    <a:pt x="970022" y="0"/>
                  </a:lnTo>
                  <a:lnTo>
                    <a:pt x="9700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5"/>
              </a:stretch>
            </a:blipFill>
          </p:spPr>
        </p:sp>
        <p:sp>
          <p:nvSpPr>
            <p:cNvPr id="157" name="TextBox 157"/>
            <p:cNvSpPr txBox="1"/>
            <p:nvPr/>
          </p:nvSpPr>
          <p:spPr>
            <a:xfrm>
              <a:off x="0" y="-66675"/>
              <a:ext cx="970026" cy="615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82"/>
                </a:lnSpc>
              </a:pPr>
              <a:r>
                <a:rPr lang="en-US" sz="315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▣</a:t>
              </a:r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2010882" y="6877088"/>
            <a:ext cx="5449510" cy="370618"/>
            <a:chOff x="0" y="0"/>
            <a:chExt cx="7266013" cy="494157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7266012" cy="494162"/>
            </a:xfrm>
            <a:custGeom>
              <a:avLst/>
              <a:gdLst/>
              <a:ahLst/>
              <a:cxnLst/>
              <a:rect l="l" t="t" r="r" b="b"/>
              <a:pathLst>
                <a:path w="7266012" h="494162">
                  <a:moveTo>
                    <a:pt x="0" y="0"/>
                  </a:moveTo>
                  <a:lnTo>
                    <a:pt x="7266012" y="0"/>
                  </a:lnTo>
                  <a:lnTo>
                    <a:pt x="7266012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6502" b="-236501"/>
              </a:stretch>
            </a:blipFill>
          </p:spPr>
        </p:sp>
        <p:sp>
          <p:nvSpPr>
            <p:cNvPr id="160" name="TextBox 160"/>
            <p:cNvSpPr txBox="1"/>
            <p:nvPr/>
          </p:nvSpPr>
          <p:spPr>
            <a:xfrm>
              <a:off x="0" y="0"/>
              <a:ext cx="7266013" cy="494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0B35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Accountability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12010882" y="7316343"/>
            <a:ext cx="5449510" cy="384353"/>
            <a:chOff x="0" y="0"/>
            <a:chExt cx="7266013" cy="512470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7266012" cy="512464"/>
            </a:xfrm>
            <a:custGeom>
              <a:avLst/>
              <a:gdLst/>
              <a:ahLst/>
              <a:cxnLst/>
              <a:rect l="l" t="t" r="r" b="b"/>
              <a:pathLst>
                <a:path w="7266012" h="512464">
                  <a:moveTo>
                    <a:pt x="0" y="0"/>
                  </a:moveTo>
                  <a:lnTo>
                    <a:pt x="7266012" y="0"/>
                  </a:lnTo>
                  <a:lnTo>
                    <a:pt x="726601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6269" b="-226270"/>
              </a:stretch>
            </a:blipFill>
          </p:spPr>
        </p:sp>
        <p:sp>
          <p:nvSpPr>
            <p:cNvPr id="163" name="TextBox 163"/>
            <p:cNvSpPr txBox="1"/>
            <p:nvPr/>
          </p:nvSpPr>
          <p:spPr>
            <a:xfrm>
              <a:off x="0" y="0"/>
              <a:ext cx="726601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16788"/>
                  </a:solidFill>
                  <a:latin typeface="Aptos"/>
                  <a:ea typeface="Aptos"/>
                  <a:cs typeface="Aptos"/>
                  <a:sym typeface="Aptos"/>
                </a:rPr>
                <a:t>Immutable audit trail via Hyperledger.</a:t>
              </a:r>
            </a:p>
          </p:txBody>
        </p:sp>
      </p:grpSp>
      <p:sp>
        <p:nvSpPr>
          <p:cNvPr id="164" name="AutoShape 164"/>
          <p:cNvSpPr/>
          <p:nvPr/>
        </p:nvSpPr>
        <p:spPr>
          <a:xfrm rot="5378280">
            <a:off x="6593157" y="5282127"/>
            <a:ext cx="5125126" cy="0"/>
          </a:xfrm>
          <a:prstGeom prst="line">
            <a:avLst/>
          </a:prstGeom>
          <a:ln w="19050" cap="rnd">
            <a:solidFill>
              <a:srgbClr val="BBD7F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5" name="Group 165"/>
          <p:cNvGrpSpPr/>
          <p:nvPr/>
        </p:nvGrpSpPr>
        <p:grpSpPr>
          <a:xfrm>
            <a:off x="8922372" y="3088510"/>
            <a:ext cx="466706" cy="466706"/>
            <a:chOff x="0" y="0"/>
            <a:chExt cx="622275" cy="622275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677D2"/>
            </a:solidFill>
          </p:spPr>
        </p:sp>
      </p:grpSp>
      <p:grpSp>
        <p:nvGrpSpPr>
          <p:cNvPr id="167" name="Group 167"/>
          <p:cNvGrpSpPr/>
          <p:nvPr/>
        </p:nvGrpSpPr>
        <p:grpSpPr>
          <a:xfrm>
            <a:off x="8922372" y="3184598"/>
            <a:ext cx="466706" cy="247079"/>
            <a:chOff x="0" y="0"/>
            <a:chExt cx="622275" cy="329438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622278" cy="329441"/>
            </a:xfrm>
            <a:custGeom>
              <a:avLst/>
              <a:gdLst/>
              <a:ahLst/>
              <a:cxnLst/>
              <a:rect l="l" t="t" r="r" b="b"/>
              <a:pathLst>
                <a:path w="622278" h="329441">
                  <a:moveTo>
                    <a:pt x="0" y="0"/>
                  </a:moveTo>
                  <a:lnTo>
                    <a:pt x="622278" y="0"/>
                  </a:lnTo>
                  <a:lnTo>
                    <a:pt x="622278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5" r="-17924" b="1"/>
              </a:stretch>
            </a:blipFill>
          </p:spPr>
        </p:sp>
        <p:sp>
          <p:nvSpPr>
            <p:cNvPr id="169" name="TextBox 169"/>
            <p:cNvSpPr txBox="1"/>
            <p:nvPr/>
          </p:nvSpPr>
          <p:spPr>
            <a:xfrm>
              <a:off x="0" y="0"/>
              <a:ext cx="622275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sp>
        <p:nvSpPr>
          <p:cNvPr id="170" name="AutoShape 170"/>
          <p:cNvSpPr/>
          <p:nvPr/>
        </p:nvSpPr>
        <p:spPr>
          <a:xfrm rot="110880">
            <a:off x="8224409" y="3317100"/>
            <a:ext cx="709584" cy="0"/>
          </a:xfrm>
          <a:prstGeom prst="line">
            <a:avLst/>
          </a:prstGeom>
          <a:ln w="9525" cap="rnd">
            <a:solidFill>
              <a:srgbClr val="1677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1" name="AutoShape 171"/>
          <p:cNvSpPr/>
          <p:nvPr/>
        </p:nvSpPr>
        <p:spPr>
          <a:xfrm rot="113040">
            <a:off x="9377448" y="3317100"/>
            <a:ext cx="695868" cy="0"/>
          </a:xfrm>
          <a:prstGeom prst="line">
            <a:avLst/>
          </a:prstGeom>
          <a:ln w="9525" cap="rnd">
            <a:solidFill>
              <a:srgbClr val="1677D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2" name="Group 172"/>
          <p:cNvGrpSpPr/>
          <p:nvPr/>
        </p:nvGrpSpPr>
        <p:grpSpPr>
          <a:xfrm>
            <a:off x="8922372" y="4406275"/>
            <a:ext cx="466706" cy="466706"/>
            <a:chOff x="0" y="0"/>
            <a:chExt cx="622275" cy="622275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7054C7"/>
            </a:solidFill>
          </p:spPr>
        </p:sp>
      </p:grpSp>
      <p:grpSp>
        <p:nvGrpSpPr>
          <p:cNvPr id="174" name="Group 174"/>
          <p:cNvGrpSpPr/>
          <p:nvPr/>
        </p:nvGrpSpPr>
        <p:grpSpPr>
          <a:xfrm>
            <a:off x="8922372" y="4502363"/>
            <a:ext cx="466706" cy="247079"/>
            <a:chOff x="0" y="0"/>
            <a:chExt cx="622275" cy="329438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622278" cy="329441"/>
            </a:xfrm>
            <a:custGeom>
              <a:avLst/>
              <a:gdLst/>
              <a:ahLst/>
              <a:cxnLst/>
              <a:rect l="l" t="t" r="r" b="b"/>
              <a:pathLst>
                <a:path w="622278" h="329441">
                  <a:moveTo>
                    <a:pt x="0" y="0"/>
                  </a:moveTo>
                  <a:lnTo>
                    <a:pt x="622278" y="0"/>
                  </a:lnTo>
                  <a:lnTo>
                    <a:pt x="622278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5" r="-17924" b="1"/>
              </a:stretch>
            </a:blipFill>
          </p:spPr>
        </p:sp>
        <p:sp>
          <p:nvSpPr>
            <p:cNvPr id="176" name="TextBox 176"/>
            <p:cNvSpPr txBox="1"/>
            <p:nvPr/>
          </p:nvSpPr>
          <p:spPr>
            <a:xfrm>
              <a:off x="0" y="0"/>
              <a:ext cx="622275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sp>
        <p:nvSpPr>
          <p:cNvPr id="177" name="AutoShape 177"/>
          <p:cNvSpPr/>
          <p:nvPr/>
        </p:nvSpPr>
        <p:spPr>
          <a:xfrm rot="110880">
            <a:off x="8224409" y="4634875"/>
            <a:ext cx="709584" cy="0"/>
          </a:xfrm>
          <a:prstGeom prst="line">
            <a:avLst/>
          </a:prstGeom>
          <a:ln w="9525" cap="rnd">
            <a:solidFill>
              <a:srgbClr val="7054C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8" name="AutoShape 178"/>
          <p:cNvSpPr/>
          <p:nvPr/>
        </p:nvSpPr>
        <p:spPr>
          <a:xfrm rot="113040">
            <a:off x="9377448" y="4634875"/>
            <a:ext cx="695868" cy="0"/>
          </a:xfrm>
          <a:prstGeom prst="line">
            <a:avLst/>
          </a:prstGeom>
          <a:ln w="9525" cap="rnd">
            <a:solidFill>
              <a:srgbClr val="7054C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9" name="Group 179"/>
          <p:cNvGrpSpPr/>
          <p:nvPr/>
        </p:nvGrpSpPr>
        <p:grpSpPr>
          <a:xfrm>
            <a:off x="8922372" y="5724039"/>
            <a:ext cx="466706" cy="466706"/>
            <a:chOff x="0" y="0"/>
            <a:chExt cx="622275" cy="622275"/>
          </a:xfrm>
        </p:grpSpPr>
        <p:sp>
          <p:nvSpPr>
            <p:cNvPr id="180" name="Freeform 180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id="181" name="Group 181"/>
          <p:cNvGrpSpPr/>
          <p:nvPr/>
        </p:nvGrpSpPr>
        <p:grpSpPr>
          <a:xfrm>
            <a:off x="8922372" y="5820127"/>
            <a:ext cx="466706" cy="247079"/>
            <a:chOff x="0" y="0"/>
            <a:chExt cx="622275" cy="329438"/>
          </a:xfrm>
        </p:grpSpPr>
        <p:sp>
          <p:nvSpPr>
            <p:cNvPr id="182" name="Freeform 182"/>
            <p:cNvSpPr/>
            <p:nvPr/>
          </p:nvSpPr>
          <p:spPr>
            <a:xfrm>
              <a:off x="0" y="0"/>
              <a:ext cx="622278" cy="329441"/>
            </a:xfrm>
            <a:custGeom>
              <a:avLst/>
              <a:gdLst/>
              <a:ahLst/>
              <a:cxnLst/>
              <a:rect l="l" t="t" r="r" b="b"/>
              <a:pathLst>
                <a:path w="622278" h="329441">
                  <a:moveTo>
                    <a:pt x="0" y="0"/>
                  </a:moveTo>
                  <a:lnTo>
                    <a:pt x="622278" y="0"/>
                  </a:lnTo>
                  <a:lnTo>
                    <a:pt x="622278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5" r="-17924" b="1"/>
              </a:stretch>
            </a:blipFill>
          </p:spPr>
        </p:sp>
        <p:sp>
          <p:nvSpPr>
            <p:cNvPr id="183" name="TextBox 183"/>
            <p:cNvSpPr txBox="1"/>
            <p:nvPr/>
          </p:nvSpPr>
          <p:spPr>
            <a:xfrm>
              <a:off x="0" y="0"/>
              <a:ext cx="622275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sp>
        <p:nvSpPr>
          <p:cNvPr id="184" name="AutoShape 184"/>
          <p:cNvSpPr/>
          <p:nvPr/>
        </p:nvSpPr>
        <p:spPr>
          <a:xfrm rot="110880">
            <a:off x="8224409" y="5952639"/>
            <a:ext cx="709584" cy="0"/>
          </a:xfrm>
          <a:prstGeom prst="line">
            <a:avLst/>
          </a:prstGeom>
          <a:ln w="9525" cap="rnd">
            <a:solidFill>
              <a:srgbClr val="16A08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5" name="AutoShape 185"/>
          <p:cNvSpPr/>
          <p:nvPr/>
        </p:nvSpPr>
        <p:spPr>
          <a:xfrm rot="113040">
            <a:off x="9377448" y="5952639"/>
            <a:ext cx="695868" cy="0"/>
          </a:xfrm>
          <a:prstGeom prst="line">
            <a:avLst/>
          </a:prstGeom>
          <a:ln w="9525" cap="rnd">
            <a:solidFill>
              <a:srgbClr val="16A08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6" name="Group 186"/>
          <p:cNvGrpSpPr/>
          <p:nvPr/>
        </p:nvGrpSpPr>
        <p:grpSpPr>
          <a:xfrm>
            <a:off x="8922372" y="7041813"/>
            <a:ext cx="466706" cy="466706"/>
            <a:chOff x="0" y="0"/>
            <a:chExt cx="622275" cy="622275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7054C7"/>
            </a:solidFill>
          </p:spPr>
        </p:sp>
      </p:grpSp>
      <p:grpSp>
        <p:nvGrpSpPr>
          <p:cNvPr id="188" name="Group 188"/>
          <p:cNvGrpSpPr/>
          <p:nvPr/>
        </p:nvGrpSpPr>
        <p:grpSpPr>
          <a:xfrm>
            <a:off x="8922372" y="7137892"/>
            <a:ext cx="466706" cy="247079"/>
            <a:chOff x="0" y="0"/>
            <a:chExt cx="622275" cy="329438"/>
          </a:xfrm>
        </p:grpSpPr>
        <p:sp>
          <p:nvSpPr>
            <p:cNvPr id="189" name="Freeform 189"/>
            <p:cNvSpPr/>
            <p:nvPr/>
          </p:nvSpPr>
          <p:spPr>
            <a:xfrm>
              <a:off x="0" y="0"/>
              <a:ext cx="622278" cy="329441"/>
            </a:xfrm>
            <a:custGeom>
              <a:avLst/>
              <a:gdLst/>
              <a:ahLst/>
              <a:cxnLst/>
              <a:rect l="l" t="t" r="r" b="b"/>
              <a:pathLst>
                <a:path w="622278" h="329441">
                  <a:moveTo>
                    <a:pt x="0" y="0"/>
                  </a:moveTo>
                  <a:lnTo>
                    <a:pt x="622278" y="0"/>
                  </a:lnTo>
                  <a:lnTo>
                    <a:pt x="622278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5" r="-17924" b="1"/>
              </a:stretch>
            </a:blipFill>
          </p:spPr>
        </p:sp>
        <p:sp>
          <p:nvSpPr>
            <p:cNvPr id="190" name="TextBox 190"/>
            <p:cNvSpPr txBox="1"/>
            <p:nvPr/>
          </p:nvSpPr>
          <p:spPr>
            <a:xfrm>
              <a:off x="0" y="0"/>
              <a:ext cx="622275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sp>
        <p:nvSpPr>
          <p:cNvPr id="191" name="AutoShape 191"/>
          <p:cNvSpPr/>
          <p:nvPr/>
        </p:nvSpPr>
        <p:spPr>
          <a:xfrm rot="110880">
            <a:off x="8224409" y="7270404"/>
            <a:ext cx="709584" cy="0"/>
          </a:xfrm>
          <a:prstGeom prst="line">
            <a:avLst/>
          </a:prstGeom>
          <a:ln w="9525" cap="rnd">
            <a:solidFill>
              <a:srgbClr val="7054C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2" name="AutoShape 192"/>
          <p:cNvSpPr/>
          <p:nvPr/>
        </p:nvSpPr>
        <p:spPr>
          <a:xfrm rot="113040">
            <a:off x="9377448" y="7270404"/>
            <a:ext cx="695868" cy="0"/>
          </a:xfrm>
          <a:prstGeom prst="line">
            <a:avLst/>
          </a:prstGeom>
          <a:ln w="9525" cap="rnd">
            <a:solidFill>
              <a:srgbClr val="7054C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3" name="Group 193"/>
          <p:cNvGrpSpPr/>
          <p:nvPr/>
        </p:nvGrpSpPr>
        <p:grpSpPr>
          <a:xfrm>
            <a:off x="11725" y="8463824"/>
            <a:ext cx="18288000" cy="1823176"/>
            <a:chOff x="0" y="0"/>
            <a:chExt cx="24384000" cy="2430901"/>
          </a:xfrm>
        </p:grpSpPr>
        <p:sp>
          <p:nvSpPr>
            <p:cNvPr id="194" name="Freeform 194"/>
            <p:cNvSpPr/>
            <p:nvPr/>
          </p:nvSpPr>
          <p:spPr>
            <a:xfrm>
              <a:off x="0" y="0"/>
              <a:ext cx="24384000" cy="2430901"/>
            </a:xfrm>
            <a:custGeom>
              <a:avLst/>
              <a:gdLst/>
              <a:ahLst/>
              <a:cxnLst/>
              <a:rect l="l" t="t" r="r" b="b"/>
              <a:pathLst>
                <a:path w="24384000" h="2430901">
                  <a:moveTo>
                    <a:pt x="0" y="0"/>
                  </a:moveTo>
                  <a:lnTo>
                    <a:pt x="24384000" y="0"/>
                  </a:lnTo>
                  <a:lnTo>
                    <a:pt x="24384000" y="2430901"/>
                  </a:lnTo>
                  <a:lnTo>
                    <a:pt x="0" y="2430901"/>
                  </a:lnTo>
                  <a:close/>
                </a:path>
              </a:pathLst>
            </a:custGeom>
            <a:solidFill>
              <a:srgbClr val="0070C0">
                <a:alpha val="4706"/>
              </a:srgbClr>
            </a:solidFill>
          </p:spPr>
        </p:sp>
      </p:grpSp>
      <p:grpSp>
        <p:nvGrpSpPr>
          <p:cNvPr id="195" name="Group 195"/>
          <p:cNvGrpSpPr/>
          <p:nvPr/>
        </p:nvGrpSpPr>
        <p:grpSpPr>
          <a:xfrm>
            <a:off x="14735637" y="6263"/>
            <a:ext cx="3374774" cy="1593504"/>
            <a:chOff x="0" y="0"/>
            <a:chExt cx="4499699" cy="2124672"/>
          </a:xfrm>
        </p:grpSpPr>
        <p:sp>
          <p:nvSpPr>
            <p:cNvPr id="196" name="Freeform 19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97" name="Group 197"/>
          <p:cNvGrpSpPr/>
          <p:nvPr/>
        </p:nvGrpSpPr>
        <p:grpSpPr>
          <a:xfrm>
            <a:off x="70756" y="28068"/>
            <a:ext cx="1915887" cy="1249101"/>
            <a:chOff x="0" y="0"/>
            <a:chExt cx="2554516" cy="1665468"/>
          </a:xfrm>
        </p:grpSpPr>
        <p:sp>
          <p:nvSpPr>
            <p:cNvPr id="198" name="Freeform 198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99" name="TextBox 199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70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Pehchaan!</a:t>
              </a:r>
            </a:p>
          </p:txBody>
        </p:sp>
      </p:grpSp>
      <p:grpSp>
        <p:nvGrpSpPr>
          <p:cNvPr id="200" name="Group 200"/>
          <p:cNvGrpSpPr/>
          <p:nvPr/>
        </p:nvGrpSpPr>
        <p:grpSpPr>
          <a:xfrm>
            <a:off x="1028700" y="-181408"/>
            <a:ext cx="16459200" cy="1714500"/>
            <a:chOff x="0" y="0"/>
            <a:chExt cx="21945600" cy="2286000"/>
          </a:xfrm>
        </p:grpSpPr>
        <p:sp>
          <p:nvSpPr>
            <p:cNvPr id="201" name="Freeform 201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202" name="TextBox 202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</a:t>
              </a: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54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BENEFITS</a:t>
              </a:r>
            </a:p>
          </p:txBody>
        </p:sp>
      </p:grpSp>
      <p:sp>
        <p:nvSpPr>
          <p:cNvPr id="203" name="Freeform 203"/>
          <p:cNvSpPr/>
          <p:nvPr/>
        </p:nvSpPr>
        <p:spPr>
          <a:xfrm>
            <a:off x="8790537" y="1137279"/>
            <a:ext cx="598542" cy="620250"/>
          </a:xfrm>
          <a:custGeom>
            <a:avLst/>
            <a:gdLst/>
            <a:ahLst/>
            <a:cxnLst/>
            <a:rect l="l" t="t" r="r" b="b"/>
            <a:pathLst>
              <a:path w="598542" h="620250">
                <a:moveTo>
                  <a:pt x="0" y="0"/>
                </a:moveTo>
                <a:lnTo>
                  <a:pt x="598541" y="0"/>
                </a:lnTo>
                <a:lnTo>
                  <a:pt x="598541" y="620251"/>
                </a:lnTo>
                <a:lnTo>
                  <a:pt x="0" y="620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4" name="AutoShape 204"/>
          <p:cNvSpPr/>
          <p:nvPr/>
        </p:nvSpPr>
        <p:spPr>
          <a:xfrm>
            <a:off x="10027253" y="1330766"/>
            <a:ext cx="2148760" cy="0"/>
          </a:xfrm>
          <a:prstGeom prst="line">
            <a:avLst/>
          </a:prstGeom>
          <a:ln w="133350" cap="flat">
            <a:solidFill>
              <a:srgbClr val="0070C0">
                <a:alpha val="4078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5" name="AutoShape 205"/>
          <p:cNvSpPr/>
          <p:nvPr/>
        </p:nvSpPr>
        <p:spPr>
          <a:xfrm>
            <a:off x="5999634" y="1296219"/>
            <a:ext cx="2148760" cy="0"/>
          </a:xfrm>
          <a:prstGeom prst="line">
            <a:avLst/>
          </a:prstGeom>
          <a:ln w="133350" cap="flat">
            <a:solidFill>
              <a:srgbClr val="0070C0">
                <a:alpha val="4078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6" name="TextBox 206"/>
          <p:cNvSpPr txBox="1"/>
          <p:nvPr/>
        </p:nvSpPr>
        <p:spPr>
          <a:xfrm>
            <a:off x="2603270" y="8787674"/>
            <a:ext cx="13081461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  <a:spcBef>
                <a:spcPct val="0"/>
              </a:spcBef>
            </a:pPr>
            <a:r>
              <a:rPr lang="en-US" sz="3851" b="1">
                <a:solidFill>
                  <a:srgbClr val="7054C7"/>
                </a:solidFill>
                <a:latin typeface="Aptos Bold"/>
                <a:ea typeface="Aptos Bold"/>
                <a:cs typeface="Aptos Bold"/>
                <a:sym typeface="Aptos Bold"/>
              </a:rPr>
              <a:t>SMARTER VERIFICATION. STRONGER SECURITY.</a:t>
            </a:r>
          </a:p>
          <a:p>
            <a:pPr algn="ctr">
              <a:lnSpc>
                <a:spcPts val="3181"/>
              </a:lnSpc>
              <a:spcBef>
                <a:spcPct val="0"/>
              </a:spcBef>
            </a:pPr>
            <a:r>
              <a:rPr lang="en-US" sz="2651" b="1">
                <a:solidFill>
                  <a:srgbClr val="7054C7"/>
                </a:solidFill>
                <a:latin typeface="Aptos Bold"/>
                <a:ea typeface="Aptos Bold"/>
                <a:cs typeface="Aptos Bold"/>
                <a:sym typeface="Aptos Bold"/>
              </a:rPr>
              <a:t>FASTER • FAIRER • TRACEABLE • SCALABLE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4219565"/>
            <a:ext cx="13895070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28575" y="2657970"/>
            <a:ext cx="18345150" cy="6535950"/>
            <a:chOff x="0" y="0"/>
            <a:chExt cx="24460200" cy="8714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60200" cy="8714613"/>
            </a:xfrm>
            <a:custGeom>
              <a:avLst/>
              <a:gdLst/>
              <a:ahLst/>
              <a:cxnLst/>
              <a:rect l="l" t="t" r="r" b="b"/>
              <a:pathLst>
                <a:path w="24460200" h="8714613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643176" y="2928404"/>
            <a:ext cx="17464249" cy="600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sz="27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88632" lvl="1" indent="-244316" algn="just">
              <a:lnSpc>
                <a:spcPts val="2916"/>
              </a:lnSpc>
            </a:pPr>
            <a:r>
              <a:rPr lang="en-US" sz="27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81501" y="177746"/>
            <a:ext cx="12432925" cy="9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953" y="1828095"/>
            <a:ext cx="14153607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86052" y="236816"/>
            <a:ext cx="4799753" cy="4109263"/>
          </a:xfrm>
          <a:custGeom>
            <a:avLst/>
            <a:gdLst/>
            <a:ahLst/>
            <a:cxnLst/>
            <a:rect l="l" t="t" r="r" b="b"/>
            <a:pathLst>
              <a:path w="4799753" h="4109263">
                <a:moveTo>
                  <a:pt x="0" y="0"/>
                </a:moveTo>
                <a:lnTo>
                  <a:pt x="4799753" y="0"/>
                </a:lnTo>
                <a:lnTo>
                  <a:pt x="4799753" y="4109263"/>
                </a:lnTo>
                <a:lnTo>
                  <a:pt x="0" y="410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21133" y="493542"/>
            <a:ext cx="13084230" cy="2829465"/>
          </a:xfrm>
          <a:custGeom>
            <a:avLst/>
            <a:gdLst/>
            <a:ahLst/>
            <a:cxnLst/>
            <a:rect l="l" t="t" r="r" b="b"/>
            <a:pathLst>
              <a:path w="13084230" h="2829465">
                <a:moveTo>
                  <a:pt x="0" y="0"/>
                </a:moveTo>
                <a:lnTo>
                  <a:pt x="13084230" y="0"/>
                </a:lnTo>
                <a:lnTo>
                  <a:pt x="13084230" y="2829465"/>
                </a:lnTo>
                <a:lnTo>
                  <a:pt x="0" y="2829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170438" y="474492"/>
            <a:ext cx="4550695" cy="962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What exactly are we putting on the blockchain?</a:t>
            </a:r>
          </a:p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NOT this:</a:t>
            </a:r>
          </a:p>
          <a:p>
            <a:pPr marL="388620" lvl="1" indent="-194310" algn="ctr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Passport image ❌</a:t>
            </a:r>
          </a:p>
          <a:p>
            <a:pPr marL="388620" lvl="1" indent="-194310" algn="ctr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Face image ❌</a:t>
            </a:r>
          </a:p>
          <a:p>
            <a:pPr marL="388620" lvl="1" indent="-194310" algn="ctr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Name / DOB / nationality ❌</a:t>
            </a:r>
          </a:p>
          <a:p>
            <a:pPr marL="388620" lvl="1" indent="-194310" algn="ctr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Full OCR output ❌</a:t>
            </a:r>
          </a:p>
          <a:p>
            <a:pPr marL="388620" lvl="1" indent="-194310" algn="ctr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Any sensitive PII ❌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Instead, blockchain stores a tamper-evident verification record.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For every screening: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Verification ID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Timestamp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Document Type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Document Hash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Verification Result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Risk Score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Detection Summary Hash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Officer/System ID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Example: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VERIFICATION ID:  VK-2026-00184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Document Hash:    8f31a9...c72e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Timestamp:        07-09-2026 23:41:08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Result:           FLAGGED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Risk Score:       82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Reason:           DOCUMENT_TAMPERING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System ID:        CHECKPOINT-04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If somebody later changes the underlying verification record, the hash no longer matches.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574979" y="4991100"/>
            <a:ext cx="3138041" cy="321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 Verification</a:t>
            </a:r>
          </a:p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Generate Verification Record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SHA-256 Document Hash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Permissioned Blockchain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(Hyperledger Fabric)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Immutable Audit Trail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↓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Integrity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597</Words>
  <Application>Microsoft Office PowerPoint</Application>
  <PresentationFormat>Custom</PresentationFormat>
  <Paragraphs>141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Garamond Bold</vt:lpstr>
      <vt:lpstr>Times New Roman Bold</vt:lpstr>
      <vt:lpstr>Arimo</vt:lpstr>
      <vt:lpstr>Arial</vt:lpstr>
      <vt:lpstr>Arial Bold</vt:lpstr>
      <vt:lpstr>Calibri</vt:lpstr>
      <vt:lpstr>Arimo Bold</vt:lpstr>
      <vt:lpstr>Aptos</vt:lpstr>
      <vt:lpstr>Calibri (MS) Bold</vt:lpstr>
      <vt:lpstr>Aptos Bold</vt:lpstr>
      <vt:lpstr>DM Sans Bold</vt:lpstr>
      <vt:lpstr>Samsung Sans</vt:lpstr>
      <vt:lpstr>Calibri (MS)</vt:lpstr>
      <vt:lpstr>Sitka Banner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PASSPORT AUTHENTICITY ENGINE</dc:title>
  <cp:lastModifiedBy>Adeeb Khan</cp:lastModifiedBy>
  <cp:revision>3</cp:revision>
  <dcterms:created xsi:type="dcterms:W3CDTF">2006-08-16T00:00:00Z</dcterms:created>
  <dcterms:modified xsi:type="dcterms:W3CDTF">2026-09-12T19:49:30Z</dcterms:modified>
  <dc:identifier>DAHUiX8nXXQ</dc:identifier>
</cp:coreProperties>
</file>